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d4a3e85-2f6a-8b3c-e332-4634eaf6dd63}">
          <p14:sldIdLst>
            <p14:sldId id="256"/>
            <p14:sldId id="257"/>
            <p14:sldId id="258"/>
          </p14:sldIdLst>
        </p14:section>
        <p14:section name="Data" id="{36a41cfa-76ce-aaff-2b89-ec2b39de7a24}">
          <p14:sldIdLst>
            <p14:sldId id="259"/>
            <p14:sldId id="260"/>
          </p14:sldIdLst>
        </p14:section>
        <p14:section name="Model" id="{1e4f2046-07e3-9323-3269-d7c5ee03d641}">
          <p14:sldIdLst>
            <p14:sldId id="261"/>
          </p14:sldIdLst>
        </p14:section>
        <p14:section name="Results" id="{aa8e6b8b-ed42-ce72-ddaa-256898b8c80c}">
          <p14:sldIdLst>
            <p14:sldId id="262"/>
          </p14:sldIdLst>
        </p14:section>
        <p14:section name="Dashboard" id="{1363b5a6-c4aa-99a0-2954-a524de939f1e}">
          <p14:sldIdLst>
            <p14:sldId id="263"/>
          </p14:sldIdLst>
        </p14:section>
        <p14:section name="Wrap-up" id="{7607049a-4720-53bd-576a-f392826b82cb}">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Average PM2.5 by month at the Kolkata station (µg/m³)</a:t>
            </a:r>
          </a:p>
        </c:rich>
      </c:tx>
      <c:layout/>
      <c:overlay val="0"/>
    </c:title>
    <c:autoTitleDeleted val="0"/>
    <c:plotArea>
      <c:layout/>
      <c:barChart>
        <c:barDir val="col"/>
        <c:grouping val="stacked"/>
        <c:varyColors val="0"/>
        <c:ser>
          <c:idx val="0"/>
          <c:order val="0"/>
          <c:tx>
            <c:strRef>
              <c:f>Sheet1!$B$1</c:f>
              <c:strCache>
                <c:ptCount val="1"/>
                <c:pt idx="0">
                  <c:v>Above the 60 µg/m³ limit</c:v>
                </c:pt>
              </c:strCache>
            </c:strRef>
          </c:tx>
          <c:spPr>
            <a:solidFill>
              <a:srgbClr val="D941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97</c:v>
                </c:pt>
                <c:pt idx="1">
                  <c:v>73</c:v>
                </c:pt>
                <c:pt idx="2">
                  <c:v>0</c:v>
                </c:pt>
                <c:pt idx="3">
                  <c:v>0</c:v>
                </c:pt>
                <c:pt idx="4">
                  <c:v>0</c:v>
                </c:pt>
                <c:pt idx="5">
                  <c:v>0</c:v>
                </c:pt>
                <c:pt idx="6">
                  <c:v>0</c:v>
                </c:pt>
                <c:pt idx="7">
                  <c:v>0</c:v>
                </c:pt>
                <c:pt idx="8">
                  <c:v>0</c:v>
                </c:pt>
                <c:pt idx="9">
                  <c:v>0</c:v>
                </c:pt>
                <c:pt idx="10">
                  <c:v>116</c:v>
                </c:pt>
                <c:pt idx="11">
                  <c:v>107</c:v>
                </c:pt>
              </c:numCache>
            </c:numRef>
          </c:val>
        </c:ser>
        <c:ser>
          <c:idx val="1"/>
          <c:order val="1"/>
          <c:tx>
            <c:strRef>
              <c:f>Sheet1!$C$1</c:f>
              <c:strCache>
                <c:ptCount val="1"/>
                <c:pt idx="0">
                  <c:v>Within the limit</c:v>
                </c:pt>
              </c:strCache>
            </c:strRef>
          </c:tx>
          <c:spPr>
            <a:solidFill>
              <a:srgbClr val="2F6FD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0</c:v>
                </c:pt>
                <c:pt idx="1">
                  <c:v>0</c:v>
                </c:pt>
                <c:pt idx="2">
                  <c:v>46</c:v>
                </c:pt>
                <c:pt idx="3">
                  <c:v>28</c:v>
                </c:pt>
                <c:pt idx="4">
                  <c:v>25</c:v>
                </c:pt>
                <c:pt idx="5">
                  <c:v>27</c:v>
                </c:pt>
                <c:pt idx="6">
                  <c:v>20</c:v>
                </c:pt>
                <c:pt idx="7">
                  <c:v>21</c:v>
                </c:pt>
                <c:pt idx="8">
                  <c:v>26</c:v>
                </c:pt>
                <c:pt idx="9">
                  <c:v>60</c:v>
                </c:pt>
                <c:pt idx="10">
                  <c:v>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A63"/>
                </a:solidFill>
                <a:latin typeface="+mn-lt"/>
              </a:defRPr>
            </a:pPr>
            <a:endParaRPr lang="en-US"/>
          </a:p>
        </c:txPr>
        <c:crossAx val="2094734552"/>
        <c:crosses val="autoZero"/>
        <c:auto val="1"/>
        <c:lblAlgn val="ctr"/>
        <c:noMultiLvlLbl val="1"/>
      </c:catAx>
      <c:valAx>
        <c:axId val="2094734552"/>
        <c:scaling>
          <c:orientation val="minMax"/>
          <c:max val="140"/>
        </c:scaling>
        <c:delete val="0"/>
        <c:axPos val="l"/>
        <c:majorGridlines>
          <c:spPr>
            <a:ln w="9525"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A63"/>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3A4A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Average PM2.5 by hour of day, IST (µg/m³)</a:t>
            </a:r>
          </a:p>
        </c:rich>
      </c:tx>
      <c:layout/>
      <c:overlay val="0"/>
    </c:title>
    <c:autoTitleDeleted val="0"/>
    <c:plotArea>
      <c:layout/>
      <c:lineChart>
        <c:varyColors val="0"/>
        <c:ser>
          <c:idx val="0"/>
          <c:order val="0"/>
          <c:tx>
            <c:strRef>
              <c:f>Sheet1!$B$1</c:f>
              <c:strCache>
                <c:ptCount val="1"/>
                <c:pt idx="0">
                  <c:v>Average PM2.5</c:v>
                </c:pt>
              </c:strCache>
            </c:strRef>
          </c:tx>
          <c:spPr>
            <a:solidFill>
              <a:srgbClr val="2F6FDE"/>
            </a:solidFill>
            <a:ln w="38100" cap="flat">
              <a:solidFill>
                <a:srgbClr val="2F6FD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6FDE"/>
              </a:solidFill>
              <a:ln w="9525" cap="flat">
                <a:solidFill>
                  <a:srgbClr val="2F6FDE"/>
                </a:solidFill>
                <a:prstDash val="solid"/>
                <a:round/>
              </a:ln>
              <a:effectLst/>
            </c:spPr>
          </c:marker>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52</c:v>
                </c:pt>
                <c:pt idx="1">
                  <c:v>50</c:v>
                </c:pt>
                <c:pt idx="2">
                  <c:v>48</c:v>
                </c:pt>
                <c:pt idx="3">
                  <c:v>46</c:v>
                </c:pt>
                <c:pt idx="4">
                  <c:v>45</c:v>
                </c:pt>
                <c:pt idx="5">
                  <c:v>44</c:v>
                </c:pt>
                <c:pt idx="6">
                  <c:v>44</c:v>
                </c:pt>
                <c:pt idx="7">
                  <c:v>44</c:v>
                </c:pt>
                <c:pt idx="8">
                  <c:v>44</c:v>
                </c:pt>
                <c:pt idx="9">
                  <c:v>42</c:v>
                </c:pt>
                <c:pt idx="10">
                  <c:v>38</c:v>
                </c:pt>
                <c:pt idx="11">
                  <c:v>38</c:v>
                </c:pt>
                <c:pt idx="12">
                  <c:v>40</c:v>
                </c:pt>
                <c:pt idx="13">
                  <c:v>38</c:v>
                </c:pt>
                <c:pt idx="14">
                  <c:v>38</c:v>
                </c:pt>
                <c:pt idx="15">
                  <c:v>38</c:v>
                </c:pt>
                <c:pt idx="16">
                  <c:v>38</c:v>
                </c:pt>
                <c:pt idx="17">
                  <c:v>39</c:v>
                </c:pt>
                <c:pt idx="18">
                  <c:v>42</c:v>
                </c:pt>
                <c:pt idx="19">
                  <c:v>46</c:v>
                </c:pt>
                <c:pt idx="20">
                  <c:v>49</c:v>
                </c:pt>
                <c:pt idx="21">
                  <c:v>51</c:v>
                </c:pt>
                <c:pt idx="22">
                  <c:v>52</c:v>
                </c:pt>
                <c:pt idx="23">
                  <c:v>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A63"/>
                </a:solidFill>
                <a:latin typeface="+mn-lt"/>
              </a:defRPr>
            </a:pPr>
            <a:endParaRPr lang="en-US"/>
          </a:p>
        </c:txPr>
        <c:crossAx val="2094734552"/>
        <c:crosses val="autoZero"/>
        <c:auto val="1"/>
        <c:lblAlgn val="ctr"/>
        <c:noMultiLvlLbl val="1"/>
        <c:tickLblSkip val="3"/>
      </c:catAx>
      <c:valAx>
        <c:axId val="2094734552"/>
        <c:scaling>
          <c:orientation val="minMax"/>
          <c:max val="60"/>
          <c:min val="30"/>
        </c:scaling>
        <c:delete val="0"/>
        <c:axPos val="l"/>
        <c:majorGridlines>
          <c:spPr>
            <a:ln w="9525"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A63"/>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Mean absolute error by lead time (µg/m³), lower is better</a:t>
            </a:r>
          </a:p>
        </c:rich>
      </c:tx>
      <c:layout/>
      <c:overlay val="0"/>
    </c:title>
    <c:autoTitleDeleted val="0"/>
    <c:plotArea>
      <c:layout/>
      <c:lineChart>
        <c:varyColors val="0"/>
        <c:ser>
          <c:idx val="0"/>
          <c:order val="0"/>
          <c:tx>
            <c:strRef>
              <c:f>Sheet1!$B$1</c:f>
              <c:strCache>
                <c:ptCount val="1"/>
                <c:pt idx="0">
                  <c:v>Our model</c:v>
                </c:pt>
              </c:strCache>
            </c:strRef>
          </c:tx>
          <c:spPr>
            <a:solidFill>
              <a:srgbClr val="2F6FDE"/>
            </a:solidFill>
            <a:ln w="31750" cap="flat">
              <a:solidFill>
                <a:srgbClr val="2F6FD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6FDE"/>
              </a:solidFill>
              <a:ln w="9525" cap="flat">
                <a:solidFill>
                  <a:srgbClr val="2F6FDE"/>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Sheet1!$B$2:$B$61</c:f>
              <c:numCache>
                <c:formatCode>General</c:formatCode>
                <c:ptCount val="60"/>
                <c:pt idx="0">
                  <c:v>2</c:v>
                </c:pt>
                <c:pt idx="1">
                  <c:v>2.68</c:v>
                </c:pt>
                <c:pt idx="2">
                  <c:v>2.84</c:v>
                </c:pt>
                <c:pt idx="3">
                  <c:v>3.35</c:v>
                </c:pt>
                <c:pt idx="4">
                  <c:v>3.53</c:v>
                </c:pt>
                <c:pt idx="5">
                  <c:v>3.56</c:v>
                </c:pt>
                <c:pt idx="6">
                  <c:v>3.75</c:v>
                </c:pt>
                <c:pt idx="7">
                  <c:v>3.87</c:v>
                </c:pt>
                <c:pt idx="8">
                  <c:v>3.78</c:v>
                </c:pt>
                <c:pt idx="9">
                  <c:v>3.92</c:v>
                </c:pt>
                <c:pt idx="10">
                  <c:v>3.96</c:v>
                </c:pt>
                <c:pt idx="11">
                  <c:v>3.9</c:v>
                </c:pt>
                <c:pt idx="12">
                  <c:v>4.13</c:v>
                </c:pt>
                <c:pt idx="13">
                  <c:v>4.2</c:v>
                </c:pt>
                <c:pt idx="14">
                  <c:v>4.15</c:v>
                </c:pt>
                <c:pt idx="15">
                  <c:v>4.24</c:v>
                </c:pt>
                <c:pt idx="16">
                  <c:v>4.26</c:v>
                </c:pt>
                <c:pt idx="17">
                  <c:v>4.07</c:v>
                </c:pt>
                <c:pt idx="18">
                  <c:v>4.25</c:v>
                </c:pt>
                <c:pt idx="19">
                  <c:v>4.3</c:v>
                </c:pt>
                <c:pt idx="20">
                  <c:v>4.18</c:v>
                </c:pt>
                <c:pt idx="21">
                  <c:v>4.37</c:v>
                </c:pt>
                <c:pt idx="22">
                  <c:v>4.38</c:v>
                </c:pt>
                <c:pt idx="23">
                  <c:v>4.3</c:v>
                </c:pt>
                <c:pt idx="24">
                  <c:v>4.44</c:v>
                </c:pt>
                <c:pt idx="25">
                  <c:v>4.54</c:v>
                </c:pt>
                <c:pt idx="26">
                  <c:v>4.37</c:v>
                </c:pt>
                <c:pt idx="27">
                  <c:v>4.5</c:v>
                </c:pt>
                <c:pt idx="28">
                  <c:v>4.52</c:v>
                </c:pt>
                <c:pt idx="29">
                  <c:v>4.35</c:v>
                </c:pt>
                <c:pt idx="30">
                  <c:v>4.61</c:v>
                </c:pt>
                <c:pt idx="31">
                  <c:v>4.59</c:v>
                </c:pt>
                <c:pt idx="32">
                  <c:v>4.49</c:v>
                </c:pt>
                <c:pt idx="33">
                  <c:v>4.69</c:v>
                </c:pt>
                <c:pt idx="34">
                  <c:v>4.62</c:v>
                </c:pt>
                <c:pt idx="35">
                  <c:v>4.55</c:v>
                </c:pt>
                <c:pt idx="36">
                  <c:v>4.75</c:v>
                </c:pt>
                <c:pt idx="37">
                  <c:v>4.65</c:v>
                </c:pt>
                <c:pt idx="38">
                  <c:v>4.55</c:v>
                </c:pt>
                <c:pt idx="39">
                  <c:v>4.66</c:v>
                </c:pt>
                <c:pt idx="40">
                  <c:v>4.72</c:v>
                </c:pt>
                <c:pt idx="41">
                  <c:v>4.52</c:v>
                </c:pt>
                <c:pt idx="42">
                  <c:v>4.58</c:v>
                </c:pt>
                <c:pt idx="43">
                  <c:v>4.58</c:v>
                </c:pt>
                <c:pt idx="44">
                  <c:v>4.5</c:v>
                </c:pt>
                <c:pt idx="45">
                  <c:v>4.59</c:v>
                </c:pt>
                <c:pt idx="46">
                  <c:v>4.47</c:v>
                </c:pt>
                <c:pt idx="47">
                  <c:v>4.48</c:v>
                </c:pt>
                <c:pt idx="48">
                  <c:v>4.58</c:v>
                </c:pt>
                <c:pt idx="49">
                  <c:v>4.43</c:v>
                </c:pt>
                <c:pt idx="50">
                  <c:v>4.47</c:v>
                </c:pt>
                <c:pt idx="51">
                  <c:v>4.57</c:v>
                </c:pt>
                <c:pt idx="52">
                  <c:v>4.46</c:v>
                </c:pt>
                <c:pt idx="53">
                  <c:v>4.44</c:v>
                </c:pt>
                <c:pt idx="54">
                  <c:v>4.62</c:v>
                </c:pt>
                <c:pt idx="55">
                  <c:v>4.46</c:v>
                </c:pt>
                <c:pt idx="56">
                  <c:v>4.49</c:v>
                </c:pt>
                <c:pt idx="57">
                  <c:v>4.64</c:v>
                </c:pt>
                <c:pt idx="58">
                  <c:v>4.5</c:v>
                </c:pt>
                <c:pt idx="59">
                  <c:v>4.5</c:v>
                </c:pt>
              </c:numCache>
            </c:numRef>
          </c:val>
          <c:smooth val="0"/>
        </c:ser>
        <c:ser>
          <c:idx val="1"/>
          <c:order val="1"/>
          <c:tx>
            <c:strRef>
              <c:f>Sheet1!$C$1</c:f>
              <c:strCache>
                <c:ptCount val="1"/>
                <c:pt idx="0">
                  <c:v>Persistence (no change)</c:v>
                </c:pt>
              </c:strCache>
            </c:strRef>
          </c:tx>
          <c:spPr>
            <a:solidFill>
              <a:srgbClr val="7C8DA3"/>
            </a:solidFill>
            <a:ln w="31750" cap="flat">
              <a:solidFill>
                <a:srgbClr val="7C8DA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C8DA3"/>
              </a:solidFill>
              <a:ln w="9525" cap="flat">
                <a:solidFill>
                  <a:srgbClr val="7C8DA3"/>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Sheet1!$C$2:$C$61</c:f>
              <c:numCache>
                <c:formatCode>General</c:formatCode>
                <c:ptCount val="60"/>
                <c:pt idx="0">
                  <c:v>2.04</c:v>
                </c:pt>
                <c:pt idx="1">
                  <c:v>2.83</c:v>
                </c:pt>
                <c:pt idx="2">
                  <c:v>3.08</c:v>
                </c:pt>
                <c:pt idx="3">
                  <c:v>3.77</c:v>
                </c:pt>
                <c:pt idx="4">
                  <c:v>4.12</c:v>
                </c:pt>
                <c:pt idx="5">
                  <c:v>4.34</c:v>
                </c:pt>
                <c:pt idx="6">
                  <c:v>4.64</c:v>
                </c:pt>
                <c:pt idx="7">
                  <c:v>4.93</c:v>
                </c:pt>
                <c:pt idx="8">
                  <c:v>4.89</c:v>
                </c:pt>
                <c:pt idx="9">
                  <c:v>4.95</c:v>
                </c:pt>
                <c:pt idx="10">
                  <c:v>5.15</c:v>
                </c:pt>
                <c:pt idx="11">
                  <c:v>5.11</c:v>
                </c:pt>
                <c:pt idx="12">
                  <c:v>5.27</c:v>
                </c:pt>
                <c:pt idx="13">
                  <c:v>5.31</c:v>
                </c:pt>
                <c:pt idx="14">
                  <c:v>5.33</c:v>
                </c:pt>
                <c:pt idx="15">
                  <c:v>5.34</c:v>
                </c:pt>
                <c:pt idx="16">
                  <c:v>5.27</c:v>
                </c:pt>
                <c:pt idx="17">
                  <c:v>5.12</c:v>
                </c:pt>
                <c:pt idx="18">
                  <c:v>5.36</c:v>
                </c:pt>
                <c:pt idx="19">
                  <c:v>5.29</c:v>
                </c:pt>
                <c:pt idx="20">
                  <c:v>5.14</c:v>
                </c:pt>
                <c:pt idx="21">
                  <c:v>5.26</c:v>
                </c:pt>
                <c:pt idx="22">
                  <c:v>5.32</c:v>
                </c:pt>
                <c:pt idx="23">
                  <c:v>5.25</c:v>
                </c:pt>
                <c:pt idx="24">
                  <c:v>5.42</c:v>
                </c:pt>
                <c:pt idx="25">
                  <c:v>5.59</c:v>
                </c:pt>
                <c:pt idx="26">
                  <c:v>5.39</c:v>
                </c:pt>
                <c:pt idx="27">
                  <c:v>5.55</c:v>
                </c:pt>
                <c:pt idx="28">
                  <c:v>5.72</c:v>
                </c:pt>
                <c:pt idx="29">
                  <c:v>5.64</c:v>
                </c:pt>
                <c:pt idx="30">
                  <c:v>5.89</c:v>
                </c:pt>
                <c:pt idx="31">
                  <c:v>5.95</c:v>
                </c:pt>
                <c:pt idx="32">
                  <c:v>5.76</c:v>
                </c:pt>
                <c:pt idx="33">
                  <c:v>5.98</c:v>
                </c:pt>
                <c:pt idx="34">
                  <c:v>5.96</c:v>
                </c:pt>
                <c:pt idx="35">
                  <c:v>5.94</c:v>
                </c:pt>
                <c:pt idx="36">
                  <c:v>6.1</c:v>
                </c:pt>
                <c:pt idx="37">
                  <c:v>6.11</c:v>
                </c:pt>
                <c:pt idx="38">
                  <c:v>6.05</c:v>
                </c:pt>
                <c:pt idx="39">
                  <c:v>6.17</c:v>
                </c:pt>
                <c:pt idx="40">
                  <c:v>6.17</c:v>
                </c:pt>
                <c:pt idx="41">
                  <c:v>6.17</c:v>
                </c:pt>
                <c:pt idx="42">
                  <c:v>6.23</c:v>
                </c:pt>
                <c:pt idx="43">
                  <c:v>6.17</c:v>
                </c:pt>
                <c:pt idx="44">
                  <c:v>6.1</c:v>
                </c:pt>
                <c:pt idx="45">
                  <c:v>6.23</c:v>
                </c:pt>
                <c:pt idx="46">
                  <c:v>6.21</c:v>
                </c:pt>
                <c:pt idx="47">
                  <c:v>6.11</c:v>
                </c:pt>
                <c:pt idx="48">
                  <c:v>6.2</c:v>
                </c:pt>
                <c:pt idx="49">
                  <c:v>6.13</c:v>
                </c:pt>
                <c:pt idx="50">
                  <c:v>6.21</c:v>
                </c:pt>
                <c:pt idx="51">
                  <c:v>6.42</c:v>
                </c:pt>
                <c:pt idx="52">
                  <c:v>6.4</c:v>
                </c:pt>
                <c:pt idx="53">
                  <c:v>6.35</c:v>
                </c:pt>
                <c:pt idx="54">
                  <c:v>6.59</c:v>
                </c:pt>
                <c:pt idx="55">
                  <c:v>6.5</c:v>
                </c:pt>
                <c:pt idx="56">
                  <c:v>6.52</c:v>
                </c:pt>
                <c:pt idx="57">
                  <c:v>6.65</c:v>
                </c:pt>
                <c:pt idx="58">
                  <c:v>6.56</c:v>
                </c:pt>
                <c:pt idx="59">
                  <c:v>6.61</c:v>
                </c:pt>
              </c:numCache>
            </c:numRef>
          </c:val>
          <c:smooth val="0"/>
        </c:ser>
        <c:ser>
          <c:idx val="2"/>
          <c:order val="2"/>
          <c:tx>
            <c:strRef>
              <c:f>Sheet1!$D$1</c:f>
              <c:strCache>
                <c:ptCount val="1"/>
                <c:pt idx="0">
                  <c:v>CAMS (weather apps)</c:v>
                </c:pt>
              </c:strCache>
            </c:strRef>
          </c:tx>
          <c:spPr>
            <a:solidFill>
              <a:srgbClr val="F08A24"/>
            </a:solidFill>
            <a:ln w="31750" cap="flat">
              <a:solidFill>
                <a:srgbClr val="F08A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08A24"/>
              </a:solidFill>
              <a:ln w="9525" cap="flat">
                <a:solidFill>
                  <a:srgbClr val="F08A24"/>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Sheet1!$D$2:$D$61</c:f>
              <c:numCache>
                <c:formatCode>General</c:formatCode>
                <c:ptCount val="60"/>
                <c:pt idx="0">
                  <c:v>13.7</c:v>
                </c:pt>
                <c:pt idx="1">
                  <c:v>13.52</c:v>
                </c:pt>
                <c:pt idx="2">
                  <c:v>13.49</c:v>
                </c:pt>
                <c:pt idx="3">
                  <c:v>13.75</c:v>
                </c:pt>
                <c:pt idx="4">
                  <c:v>13.54</c:v>
                </c:pt>
                <c:pt idx="5">
                  <c:v>13.52</c:v>
                </c:pt>
                <c:pt idx="6">
                  <c:v>13.68</c:v>
                </c:pt>
                <c:pt idx="7">
                  <c:v>13.59</c:v>
                </c:pt>
                <c:pt idx="8">
                  <c:v>13.68</c:v>
                </c:pt>
                <c:pt idx="9">
                  <c:v>13.86</c:v>
                </c:pt>
                <c:pt idx="10">
                  <c:v>13.74</c:v>
                </c:pt>
                <c:pt idx="11">
                  <c:v>13.74</c:v>
                </c:pt>
                <c:pt idx="12">
                  <c:v>13.94</c:v>
                </c:pt>
                <c:pt idx="13">
                  <c:v>13.84</c:v>
                </c:pt>
                <c:pt idx="14">
                  <c:v>13.77</c:v>
                </c:pt>
                <c:pt idx="15">
                  <c:v>13.94</c:v>
                </c:pt>
                <c:pt idx="16">
                  <c:v>13.9</c:v>
                </c:pt>
                <c:pt idx="17">
                  <c:v>13.81</c:v>
                </c:pt>
                <c:pt idx="18">
                  <c:v>14</c:v>
                </c:pt>
                <c:pt idx="19">
                  <c:v>13.97</c:v>
                </c:pt>
                <c:pt idx="20">
                  <c:v>13.88</c:v>
                </c:pt>
                <c:pt idx="21">
                  <c:v>13.92</c:v>
                </c:pt>
                <c:pt idx="22">
                  <c:v>13.87</c:v>
                </c:pt>
                <c:pt idx="23">
                  <c:v>13.71</c:v>
                </c:pt>
                <c:pt idx="24">
                  <c:v>13.82</c:v>
                </c:pt>
                <c:pt idx="25">
                  <c:v>13.89</c:v>
                </c:pt>
                <c:pt idx="26">
                  <c:v>13.83</c:v>
                </c:pt>
                <c:pt idx="27">
                  <c:v>13.85</c:v>
                </c:pt>
                <c:pt idx="28">
                  <c:v>13.92</c:v>
                </c:pt>
                <c:pt idx="29">
                  <c:v>13.96</c:v>
                </c:pt>
                <c:pt idx="30">
                  <c:v>14.08</c:v>
                </c:pt>
                <c:pt idx="31">
                  <c:v>14.07</c:v>
                </c:pt>
                <c:pt idx="32">
                  <c:v>13.99</c:v>
                </c:pt>
                <c:pt idx="33">
                  <c:v>14.12</c:v>
                </c:pt>
                <c:pt idx="34">
                  <c:v>14.11</c:v>
                </c:pt>
                <c:pt idx="35">
                  <c:v>14.03</c:v>
                </c:pt>
                <c:pt idx="36">
                  <c:v>14.07</c:v>
                </c:pt>
                <c:pt idx="37">
                  <c:v>14.2</c:v>
                </c:pt>
                <c:pt idx="38">
                  <c:v>13.93</c:v>
                </c:pt>
                <c:pt idx="39">
                  <c:v>13.93</c:v>
                </c:pt>
                <c:pt idx="40">
                  <c:v>14.07</c:v>
                </c:pt>
                <c:pt idx="41">
                  <c:v>13.85</c:v>
                </c:pt>
                <c:pt idx="42">
                  <c:v>13.77</c:v>
                </c:pt>
                <c:pt idx="43">
                  <c:v>13.82</c:v>
                </c:pt>
                <c:pt idx="44">
                  <c:v>13.69</c:v>
                </c:pt>
                <c:pt idx="45">
                  <c:v>13.66</c:v>
                </c:pt>
                <c:pt idx="46">
                  <c:v>13.84</c:v>
                </c:pt>
                <c:pt idx="47">
                  <c:v>13.78</c:v>
                </c:pt>
                <c:pt idx="48">
                  <c:v>13.74</c:v>
                </c:pt>
                <c:pt idx="49">
                  <c:v>13.92</c:v>
                </c:pt>
                <c:pt idx="50">
                  <c:v>13.86</c:v>
                </c:pt>
                <c:pt idx="51">
                  <c:v>13.87</c:v>
                </c:pt>
                <c:pt idx="52">
                  <c:v>14.08</c:v>
                </c:pt>
                <c:pt idx="53">
                  <c:v>14.03</c:v>
                </c:pt>
                <c:pt idx="54">
                  <c:v>14.11</c:v>
                </c:pt>
                <c:pt idx="55">
                  <c:v>14.27</c:v>
                </c:pt>
                <c:pt idx="56">
                  <c:v>14.25</c:v>
                </c:pt>
                <c:pt idx="57">
                  <c:v>14.38</c:v>
                </c:pt>
                <c:pt idx="58">
                  <c:v>14.48</c:v>
                </c:pt>
                <c:pt idx="59">
                  <c:v>14.4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3A4A63"/>
                    </a:solidFill>
                    <a:latin typeface="+mn-lt"/>
                  </a:defRPr>
                </a:pPr>
                <a:r>
                  <a:rPr sz="1200" b="0" i="0" u="none" strike="noStrike">
                    <a:solidFill>
                      <a:srgbClr val="3A4A63"/>
                    </a:solidFill>
                    <a:latin typeface="+mn-lt"/>
                  </a:rPr>
                  <a:t>Lead time (hours ahead)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A63"/>
                </a:solidFill>
                <a:latin typeface="+mn-lt"/>
              </a:defRPr>
            </a:pPr>
            <a:endParaRPr lang="en-US"/>
          </a:p>
        </c:txPr>
        <c:crossAx val="2094734552"/>
        <c:crosses val="autoZero"/>
        <c:auto val="1"/>
        <c:lblAlgn val="ctr"/>
        <c:noMultiLvlLbl val="1"/>
        <c:tickLblSkip val="6"/>
      </c:catAx>
      <c:valAx>
        <c:axId val="2094734552"/>
        <c:scaling>
          <c:orientation val="minMax"/>
          <c:max val="16"/>
          <c:min val="0"/>
        </c:scaling>
        <c:delete val="0"/>
        <c:axPos val="l"/>
        <c:majorGridlines>
          <c:spPr>
            <a:ln w="9525"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A63"/>
                </a:solidFill>
                <a:latin typeface="+mn-lt"/>
              </a:defRPr>
            </a:pPr>
            <a:endParaRPr lang="en-US"/>
          </a:p>
        </c:txPr>
        <c:crossAx val="2094734554"/>
        <c:crosses val="autoZero"/>
        <c:crossBetween val="between"/>
        <c:majorUnit val="4"/>
      </c:valAx>
      <c:spPr>
        <a:noFill/>
        <a:ln>
          <a:noFill/>
        </a:ln>
        <a:effectLst/>
      </c:spPr>
    </c:plotArea>
    <c:legend>
      <c:legendPos val="b"/>
      <c:overlay val="0"/>
      <c:txPr>
        <a:bodyPr/>
        <a:lstStyle/>
        <a:p>
          <a:pPr>
            <a:defRPr sz="1200">
              <a:solidFill>
                <a:srgbClr val="3A4A6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ML system that forecasts PM2.5 for Kolkata hour by hour, 60 hours ahead, and warns before the air becomes unhealthy. The coloured strip is a real 48-hour forecast from our system, each block one hour, coloured by CPCB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PM2.5 is fine particulate matter, small enough to reach deep into the lungs. In Kolkata it is clean in the monsoon and very polluted in winter, when cold, still air traps emissions and north-westerly winds bring smoke from the Indo-Gangetic Plain. Every day of December 2025 broke the national 24-hour limit. Because this is weather-driven, it can be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objectives from the proposal are all implemented end to end for Kolkata. Weather apps such as Google Weather show a single number from a global chemistry model (CAMS) on a coarse grid. Our system adds the six things in the bottom row: station-anchored forecasts, an uncertainty range, probabilities, early warnings with timing, explanations, and a published accuracy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in six steps; one command, python pipeline.py all, runs fetch, train and forecast. Raw data are messy: quality rules remove impossible values, hours with too few readings, frozen sensors and isolated spikes. OpenAQ splits the same CPCB monitor across an old and a new sensor ID, which we join. When the Kolkata feed stops for hours or days, the missing hours are estimated from CAMS scaled to the station, so the forecast still starts from now. We train on archived forecast weather, not hindsight weather, so the model sees the same kind of inputs it gets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physics in one picture: think of the city as a room with a smoky stove. The mixing height is the ceiling: high in the afternoon, very low at night. That is why PM2.5 rises every evening and peaks overnight, and why winter, with low ceilings, calm winds and no rain, is worst. Our features describe exactly these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multi-horizon design: each training example is an issue time and a lead time, with the lead time as an input, so there is no recursive feedback and errors don't compound (about 175,000 rows per year of data). Three quantile models give the median and an 80 % range; from these we compute the probability of crossing any threshold. Why gradient-boosted trees: they are the strongest family on tabular data of this size, learn conditions like low wind AND a low mixing layer AND night, tolerate missing values, support quantile loss natively, train quickly on a laptop, and can be explained with permutation importance and what-if runs. Linear models and ARIMA miss interactions; LSTMs need more data, a GPU and are harder to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Out-of-sample backtest: forecasts issued 30 April to 2 October 2026, a period the model never saw. The key lesson: our first model predicted absolute levels and was worse than simply repeating the latest reading, because 2026 was much cleaner than 2025 and the trees memorised last year. Predicting the change from the current reading, with scale-free features and blending toward 'same as now' at short lead times, fixed it. At 1 hour nothing beats persistence and we match it; from 6 hours on we are clearly better. CAMS has a constant bias at this station that our station-anchored model removes. The 80 % range is honest. Warning hit rates need a winter in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runs locally with Streamlit. The header answers the user's question immediately: how bad is the air, will it cross my threshold, when and for how long. The threshold comes from a profile in the sidebar, for example 60 µg/m³ for sensitive groups. The forecast tab shows measured PM2.5 in black, our forecast in blue with its uncertainty band widening further ahead, and CAMS in grey; below it, the probability of exceeding the threshold for each hour. The Why tab explains the drivers, and Track record shows the backtest.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priority is validating the warnings once winter data arrive, because the current test period had very few polluted hours. Then deployment, so the dashboard is reachable online and updates itself, followed by multiple cities, user-selected stations, push notifications, and a comparison with other model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154680"/>
            <a:ext cx="10698480" cy="822960"/>
          </a:xfrm>
          <a:prstGeom prst="rect">
            <a:avLst/>
          </a:prstGeom>
          <a:noFill/>
          <a:ln/>
        </p:spPr>
        <p:txBody>
          <a:bodyPr wrap="square" rtlCol="0"/>
          <a:lstStyle>
            <a:lvl1pPr indent="0" marL="0">
              <a:buNone/>
              <a:defRPr lang="en-US" sz="2000" dirty="0">
                <a:solidFill>
                  <a:srgbClr val="C9D4E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Kolkata PM2.5 Early Warning  |  Checkpoint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737360"/>
          </a:xfrm>
          <a:prstGeom prst="rect">
            <a:avLst/>
          </a:prstGeom>
          <a:noFill/>
          <a:ln/>
        </p:spPr>
        <p:txBody>
          <a:bodyPr wrap="square" lIns="0" tIns="0" rIns="0" bIns="0" rtlCol="0" anchor="t"/>
          <a:lstStyle/>
          <a:p>
            <a:pPr algn="l" indent="0" marL="0">
              <a:buNone/>
            </a:pPr>
            <a:r>
              <a:rPr lang="en-US" sz="4400" b="1" dirty="0">
                <a:solidFill>
                  <a:schemeClr val="bg1"/>
                </a:solidFill>
              </a:rPr>
              <a:t>Forecasting Kolkata's PM2.5, 60 hours ahead</a:t>
            </a:r>
            <a:endParaRPr lang="en-US" sz="4400" dirty="0"/>
          </a:p>
        </p:txBody>
      </p:sp>
      <p:sp>
        <p:nvSpPr>
          <p:cNvPr id="3" name="Text 0"/>
          <p:cNvSpPr/>
          <p:nvPr>
            <p:ph idx="101" type="body" hasCustomPrompt="1"/>
          </p:nvPr>
        </p:nvSpPr>
        <p:spPr>
          <a:xfrm>
            <a:off x="731520" y="3154680"/>
            <a:ext cx="10698480" cy="822960"/>
          </a:xfrm>
          <a:prstGeom prst="rect">
            <a:avLst/>
          </a:prstGeom>
          <a:noFill/>
          <a:ln/>
        </p:spPr>
        <p:txBody>
          <a:bodyPr wrap="square" lIns="0" tIns="0" rIns="0" bIns="0" rtlCol="0" anchor="t"/>
          <a:lstStyle/>
          <a:p>
            <a:pPr indent="0" marL="0">
              <a:buNone/>
            </a:pPr>
            <a:r>
              <a:rPr lang="en-US" sz="2000" dirty="0">
                <a:solidFill>
                  <a:srgbClr val="C9D4E3"/>
                </a:solidFill>
              </a:rPr>
              <a:t>Air Quality Forecasting &amp; Early Warning System  |  Checkpoint 2</a:t>
            </a:r>
            <a:endParaRPr lang="en-US" sz="2000" dirty="0"/>
          </a:p>
        </p:txBody>
      </p:sp>
      <p:sp>
        <p:nvSpPr>
          <p:cNvPr id="4" name="strip hour 1"/>
          <p:cNvSpPr/>
          <p:nvPr/>
        </p:nvSpPr>
        <p:spPr>
          <a:xfrm>
            <a:off x="731520" y="4343400"/>
            <a:ext cx="195453" cy="502920"/>
          </a:xfrm>
          <a:prstGeom prst="rect">
            <a:avLst/>
          </a:prstGeom>
          <a:solidFill>
            <a:srgbClr val="F08A24"/>
          </a:solidFill>
          <a:ln w="12700">
            <a:solidFill>
              <a:srgbClr val="F08A24"/>
            </a:solidFill>
            <a:prstDash val="solid"/>
          </a:ln>
        </p:spPr>
      </p:sp>
      <p:sp>
        <p:nvSpPr>
          <p:cNvPr id="5" name="strip hour 2"/>
          <p:cNvSpPr/>
          <p:nvPr/>
        </p:nvSpPr>
        <p:spPr>
          <a:xfrm>
            <a:off x="954405" y="4343400"/>
            <a:ext cx="195453" cy="502920"/>
          </a:xfrm>
          <a:prstGeom prst="rect">
            <a:avLst/>
          </a:prstGeom>
          <a:solidFill>
            <a:srgbClr val="F08A24"/>
          </a:solidFill>
          <a:ln w="12700">
            <a:solidFill>
              <a:srgbClr val="F08A24"/>
            </a:solidFill>
            <a:prstDash val="solid"/>
          </a:ln>
        </p:spPr>
      </p:sp>
      <p:sp>
        <p:nvSpPr>
          <p:cNvPr id="6" name="strip hour 3"/>
          <p:cNvSpPr/>
          <p:nvPr/>
        </p:nvSpPr>
        <p:spPr>
          <a:xfrm>
            <a:off x="1177290" y="4343400"/>
            <a:ext cx="195453" cy="502920"/>
          </a:xfrm>
          <a:prstGeom prst="rect">
            <a:avLst/>
          </a:prstGeom>
          <a:solidFill>
            <a:srgbClr val="F08A24"/>
          </a:solidFill>
          <a:ln w="12700">
            <a:solidFill>
              <a:srgbClr val="F08A24"/>
            </a:solidFill>
            <a:prstDash val="solid"/>
          </a:ln>
        </p:spPr>
      </p:sp>
      <p:sp>
        <p:nvSpPr>
          <p:cNvPr id="7" name="strip hour 4"/>
          <p:cNvSpPr/>
          <p:nvPr/>
        </p:nvSpPr>
        <p:spPr>
          <a:xfrm>
            <a:off x="1400175" y="4343400"/>
            <a:ext cx="195453" cy="502920"/>
          </a:xfrm>
          <a:prstGeom prst="rect">
            <a:avLst/>
          </a:prstGeom>
          <a:solidFill>
            <a:srgbClr val="F08A24"/>
          </a:solidFill>
          <a:ln w="12700">
            <a:solidFill>
              <a:srgbClr val="F08A24"/>
            </a:solidFill>
            <a:prstDash val="solid"/>
          </a:ln>
        </p:spPr>
      </p:sp>
      <p:sp>
        <p:nvSpPr>
          <p:cNvPr id="8" name="strip hour 5"/>
          <p:cNvSpPr/>
          <p:nvPr/>
        </p:nvSpPr>
        <p:spPr>
          <a:xfrm>
            <a:off x="1623060" y="4343400"/>
            <a:ext cx="195453" cy="502920"/>
          </a:xfrm>
          <a:prstGeom prst="rect">
            <a:avLst/>
          </a:prstGeom>
          <a:solidFill>
            <a:srgbClr val="F08A24"/>
          </a:solidFill>
          <a:ln w="12700">
            <a:solidFill>
              <a:srgbClr val="F08A24"/>
            </a:solidFill>
            <a:prstDash val="solid"/>
          </a:ln>
        </p:spPr>
      </p:sp>
      <p:sp>
        <p:nvSpPr>
          <p:cNvPr id="9" name="strip hour 6"/>
          <p:cNvSpPr/>
          <p:nvPr/>
        </p:nvSpPr>
        <p:spPr>
          <a:xfrm>
            <a:off x="1845945" y="4343400"/>
            <a:ext cx="195453" cy="502920"/>
          </a:xfrm>
          <a:prstGeom prst="rect">
            <a:avLst/>
          </a:prstGeom>
          <a:solidFill>
            <a:srgbClr val="F08A24"/>
          </a:solidFill>
          <a:ln w="12700">
            <a:solidFill>
              <a:srgbClr val="F08A24"/>
            </a:solidFill>
            <a:prstDash val="solid"/>
          </a:ln>
        </p:spPr>
      </p:sp>
      <p:sp>
        <p:nvSpPr>
          <p:cNvPr id="10" name="strip hour 7"/>
          <p:cNvSpPr/>
          <p:nvPr/>
        </p:nvSpPr>
        <p:spPr>
          <a:xfrm>
            <a:off x="2068830" y="4343400"/>
            <a:ext cx="195453" cy="502920"/>
          </a:xfrm>
          <a:prstGeom prst="rect">
            <a:avLst/>
          </a:prstGeom>
          <a:solidFill>
            <a:srgbClr val="F08A24"/>
          </a:solidFill>
          <a:ln w="12700">
            <a:solidFill>
              <a:srgbClr val="F08A24"/>
            </a:solidFill>
            <a:prstDash val="solid"/>
          </a:ln>
        </p:spPr>
      </p:sp>
      <p:sp>
        <p:nvSpPr>
          <p:cNvPr id="11" name="strip hour 8"/>
          <p:cNvSpPr/>
          <p:nvPr/>
        </p:nvSpPr>
        <p:spPr>
          <a:xfrm>
            <a:off x="2291715" y="4343400"/>
            <a:ext cx="195453" cy="502920"/>
          </a:xfrm>
          <a:prstGeom prst="rect">
            <a:avLst/>
          </a:prstGeom>
          <a:solidFill>
            <a:srgbClr val="F2C230"/>
          </a:solidFill>
          <a:ln w="12700">
            <a:solidFill>
              <a:srgbClr val="F2C230"/>
            </a:solidFill>
            <a:prstDash val="solid"/>
          </a:ln>
        </p:spPr>
      </p:sp>
      <p:sp>
        <p:nvSpPr>
          <p:cNvPr id="12" name="strip hour 9"/>
          <p:cNvSpPr/>
          <p:nvPr/>
        </p:nvSpPr>
        <p:spPr>
          <a:xfrm>
            <a:off x="2514600" y="4343400"/>
            <a:ext cx="195453" cy="502920"/>
          </a:xfrm>
          <a:prstGeom prst="rect">
            <a:avLst/>
          </a:prstGeom>
          <a:solidFill>
            <a:srgbClr val="F2C230"/>
          </a:solidFill>
          <a:ln w="12700">
            <a:solidFill>
              <a:srgbClr val="F2C230"/>
            </a:solidFill>
            <a:prstDash val="solid"/>
          </a:ln>
        </p:spPr>
      </p:sp>
      <p:sp>
        <p:nvSpPr>
          <p:cNvPr id="13" name="strip hour 10"/>
          <p:cNvSpPr/>
          <p:nvPr/>
        </p:nvSpPr>
        <p:spPr>
          <a:xfrm>
            <a:off x="2737485" y="4343400"/>
            <a:ext cx="195453" cy="502920"/>
          </a:xfrm>
          <a:prstGeom prst="rect">
            <a:avLst/>
          </a:prstGeom>
          <a:solidFill>
            <a:srgbClr val="F2C230"/>
          </a:solidFill>
          <a:ln w="12700">
            <a:solidFill>
              <a:srgbClr val="F2C230"/>
            </a:solidFill>
            <a:prstDash val="solid"/>
          </a:ln>
        </p:spPr>
      </p:sp>
      <p:sp>
        <p:nvSpPr>
          <p:cNvPr id="14" name="strip hour 11"/>
          <p:cNvSpPr/>
          <p:nvPr/>
        </p:nvSpPr>
        <p:spPr>
          <a:xfrm>
            <a:off x="2960370" y="4343400"/>
            <a:ext cx="195453" cy="502920"/>
          </a:xfrm>
          <a:prstGeom prst="rect">
            <a:avLst/>
          </a:prstGeom>
          <a:solidFill>
            <a:srgbClr val="F2C230"/>
          </a:solidFill>
          <a:ln w="12700">
            <a:solidFill>
              <a:srgbClr val="F2C230"/>
            </a:solidFill>
            <a:prstDash val="solid"/>
          </a:ln>
        </p:spPr>
      </p:sp>
      <p:sp>
        <p:nvSpPr>
          <p:cNvPr id="15" name="strip hour 12"/>
          <p:cNvSpPr/>
          <p:nvPr/>
        </p:nvSpPr>
        <p:spPr>
          <a:xfrm>
            <a:off x="3183255" y="4343400"/>
            <a:ext cx="195453" cy="502920"/>
          </a:xfrm>
          <a:prstGeom prst="rect">
            <a:avLst/>
          </a:prstGeom>
          <a:solidFill>
            <a:srgbClr val="F2C230"/>
          </a:solidFill>
          <a:ln w="12700">
            <a:solidFill>
              <a:srgbClr val="F2C230"/>
            </a:solidFill>
            <a:prstDash val="solid"/>
          </a:ln>
        </p:spPr>
      </p:sp>
      <p:sp>
        <p:nvSpPr>
          <p:cNvPr id="16" name="strip hour 13"/>
          <p:cNvSpPr/>
          <p:nvPr/>
        </p:nvSpPr>
        <p:spPr>
          <a:xfrm>
            <a:off x="3406140" y="4343400"/>
            <a:ext cx="195453" cy="502920"/>
          </a:xfrm>
          <a:prstGeom prst="rect">
            <a:avLst/>
          </a:prstGeom>
          <a:solidFill>
            <a:srgbClr val="F2C230"/>
          </a:solidFill>
          <a:ln w="12700">
            <a:solidFill>
              <a:srgbClr val="F2C230"/>
            </a:solidFill>
            <a:prstDash val="solid"/>
          </a:ln>
        </p:spPr>
      </p:sp>
      <p:sp>
        <p:nvSpPr>
          <p:cNvPr id="17" name="strip hour 14"/>
          <p:cNvSpPr/>
          <p:nvPr/>
        </p:nvSpPr>
        <p:spPr>
          <a:xfrm>
            <a:off x="3629025" y="4343400"/>
            <a:ext cx="195453" cy="502920"/>
          </a:xfrm>
          <a:prstGeom prst="rect">
            <a:avLst/>
          </a:prstGeom>
          <a:solidFill>
            <a:srgbClr val="F2C230"/>
          </a:solidFill>
          <a:ln w="12700">
            <a:solidFill>
              <a:srgbClr val="F2C230"/>
            </a:solidFill>
            <a:prstDash val="solid"/>
          </a:ln>
        </p:spPr>
      </p:sp>
      <p:sp>
        <p:nvSpPr>
          <p:cNvPr id="18" name="strip hour 15"/>
          <p:cNvSpPr/>
          <p:nvPr/>
        </p:nvSpPr>
        <p:spPr>
          <a:xfrm>
            <a:off x="3851910" y="4343400"/>
            <a:ext cx="195453" cy="502920"/>
          </a:xfrm>
          <a:prstGeom prst="rect">
            <a:avLst/>
          </a:prstGeom>
          <a:solidFill>
            <a:srgbClr val="F2C230"/>
          </a:solidFill>
          <a:ln w="12700">
            <a:solidFill>
              <a:srgbClr val="F2C230"/>
            </a:solidFill>
            <a:prstDash val="solid"/>
          </a:ln>
        </p:spPr>
      </p:sp>
      <p:sp>
        <p:nvSpPr>
          <p:cNvPr id="19" name="strip hour 16"/>
          <p:cNvSpPr/>
          <p:nvPr/>
        </p:nvSpPr>
        <p:spPr>
          <a:xfrm>
            <a:off x="4074795" y="4343400"/>
            <a:ext cx="195453" cy="502920"/>
          </a:xfrm>
          <a:prstGeom prst="rect">
            <a:avLst/>
          </a:prstGeom>
          <a:solidFill>
            <a:srgbClr val="F2C230"/>
          </a:solidFill>
          <a:ln w="12700">
            <a:solidFill>
              <a:srgbClr val="F2C230"/>
            </a:solidFill>
            <a:prstDash val="solid"/>
          </a:ln>
        </p:spPr>
      </p:sp>
      <p:sp>
        <p:nvSpPr>
          <p:cNvPr id="20" name="strip hour 17"/>
          <p:cNvSpPr/>
          <p:nvPr/>
        </p:nvSpPr>
        <p:spPr>
          <a:xfrm>
            <a:off x="4297680" y="4343400"/>
            <a:ext cx="195453" cy="502920"/>
          </a:xfrm>
          <a:prstGeom prst="rect">
            <a:avLst/>
          </a:prstGeom>
          <a:solidFill>
            <a:srgbClr val="F2C230"/>
          </a:solidFill>
          <a:ln w="12700">
            <a:solidFill>
              <a:srgbClr val="F2C230"/>
            </a:solidFill>
            <a:prstDash val="solid"/>
          </a:ln>
        </p:spPr>
      </p:sp>
      <p:sp>
        <p:nvSpPr>
          <p:cNvPr id="21" name="strip hour 18"/>
          <p:cNvSpPr/>
          <p:nvPr/>
        </p:nvSpPr>
        <p:spPr>
          <a:xfrm>
            <a:off x="4520565" y="4343400"/>
            <a:ext cx="195453" cy="502920"/>
          </a:xfrm>
          <a:prstGeom prst="rect">
            <a:avLst/>
          </a:prstGeom>
          <a:solidFill>
            <a:srgbClr val="F08A24"/>
          </a:solidFill>
          <a:ln w="12700">
            <a:solidFill>
              <a:srgbClr val="F08A24"/>
            </a:solidFill>
            <a:prstDash val="solid"/>
          </a:ln>
        </p:spPr>
      </p:sp>
      <p:sp>
        <p:nvSpPr>
          <p:cNvPr id="22" name="strip hour 19"/>
          <p:cNvSpPr/>
          <p:nvPr/>
        </p:nvSpPr>
        <p:spPr>
          <a:xfrm>
            <a:off x="4743450" y="4343400"/>
            <a:ext cx="195453" cy="502920"/>
          </a:xfrm>
          <a:prstGeom prst="rect">
            <a:avLst/>
          </a:prstGeom>
          <a:solidFill>
            <a:srgbClr val="F08A24"/>
          </a:solidFill>
          <a:ln w="12700">
            <a:solidFill>
              <a:srgbClr val="F08A24"/>
            </a:solidFill>
            <a:prstDash val="solid"/>
          </a:ln>
        </p:spPr>
      </p:sp>
      <p:sp>
        <p:nvSpPr>
          <p:cNvPr id="23" name="strip hour 20"/>
          <p:cNvSpPr/>
          <p:nvPr/>
        </p:nvSpPr>
        <p:spPr>
          <a:xfrm>
            <a:off x="4966335" y="4343400"/>
            <a:ext cx="195453" cy="502920"/>
          </a:xfrm>
          <a:prstGeom prst="rect">
            <a:avLst/>
          </a:prstGeom>
          <a:solidFill>
            <a:srgbClr val="F08A24"/>
          </a:solidFill>
          <a:ln w="12700">
            <a:solidFill>
              <a:srgbClr val="F08A24"/>
            </a:solidFill>
            <a:prstDash val="solid"/>
          </a:ln>
        </p:spPr>
      </p:sp>
      <p:sp>
        <p:nvSpPr>
          <p:cNvPr id="24" name="strip hour 21"/>
          <p:cNvSpPr/>
          <p:nvPr/>
        </p:nvSpPr>
        <p:spPr>
          <a:xfrm>
            <a:off x="5189220" y="4343400"/>
            <a:ext cx="195453" cy="502920"/>
          </a:xfrm>
          <a:prstGeom prst="rect">
            <a:avLst/>
          </a:prstGeom>
          <a:solidFill>
            <a:srgbClr val="F08A24"/>
          </a:solidFill>
          <a:ln w="12700">
            <a:solidFill>
              <a:srgbClr val="F08A24"/>
            </a:solidFill>
            <a:prstDash val="solid"/>
          </a:ln>
        </p:spPr>
      </p:sp>
      <p:sp>
        <p:nvSpPr>
          <p:cNvPr id="25" name="strip hour 22"/>
          <p:cNvSpPr/>
          <p:nvPr/>
        </p:nvSpPr>
        <p:spPr>
          <a:xfrm>
            <a:off x="5412105" y="4343400"/>
            <a:ext cx="195453" cy="502920"/>
          </a:xfrm>
          <a:prstGeom prst="rect">
            <a:avLst/>
          </a:prstGeom>
          <a:solidFill>
            <a:srgbClr val="F08A24"/>
          </a:solidFill>
          <a:ln w="12700">
            <a:solidFill>
              <a:srgbClr val="F08A24"/>
            </a:solidFill>
            <a:prstDash val="solid"/>
          </a:ln>
        </p:spPr>
      </p:sp>
      <p:sp>
        <p:nvSpPr>
          <p:cNvPr id="26" name="strip hour 23"/>
          <p:cNvSpPr/>
          <p:nvPr/>
        </p:nvSpPr>
        <p:spPr>
          <a:xfrm>
            <a:off x="5634990" y="4343400"/>
            <a:ext cx="195453" cy="502920"/>
          </a:xfrm>
          <a:prstGeom prst="rect">
            <a:avLst/>
          </a:prstGeom>
          <a:solidFill>
            <a:srgbClr val="F08A24"/>
          </a:solidFill>
          <a:ln w="12700">
            <a:solidFill>
              <a:srgbClr val="F08A24"/>
            </a:solidFill>
            <a:prstDash val="solid"/>
          </a:ln>
        </p:spPr>
      </p:sp>
      <p:sp>
        <p:nvSpPr>
          <p:cNvPr id="27" name="strip hour 24"/>
          <p:cNvSpPr/>
          <p:nvPr/>
        </p:nvSpPr>
        <p:spPr>
          <a:xfrm>
            <a:off x="5857875" y="4343400"/>
            <a:ext cx="195453" cy="502920"/>
          </a:xfrm>
          <a:prstGeom prst="rect">
            <a:avLst/>
          </a:prstGeom>
          <a:solidFill>
            <a:srgbClr val="F08A24"/>
          </a:solidFill>
          <a:ln w="12700">
            <a:solidFill>
              <a:srgbClr val="F08A24"/>
            </a:solidFill>
            <a:prstDash val="solid"/>
          </a:ln>
        </p:spPr>
      </p:sp>
      <p:sp>
        <p:nvSpPr>
          <p:cNvPr id="28" name="strip hour 25"/>
          <p:cNvSpPr/>
          <p:nvPr/>
        </p:nvSpPr>
        <p:spPr>
          <a:xfrm>
            <a:off x="6080760" y="4343400"/>
            <a:ext cx="195453" cy="502920"/>
          </a:xfrm>
          <a:prstGeom prst="rect">
            <a:avLst/>
          </a:prstGeom>
          <a:solidFill>
            <a:srgbClr val="F08A24"/>
          </a:solidFill>
          <a:ln w="12700">
            <a:solidFill>
              <a:srgbClr val="F08A24"/>
            </a:solidFill>
            <a:prstDash val="solid"/>
          </a:ln>
        </p:spPr>
      </p:sp>
      <p:sp>
        <p:nvSpPr>
          <p:cNvPr id="29" name="strip hour 26"/>
          <p:cNvSpPr/>
          <p:nvPr/>
        </p:nvSpPr>
        <p:spPr>
          <a:xfrm>
            <a:off x="6303645" y="4343400"/>
            <a:ext cx="195453" cy="502920"/>
          </a:xfrm>
          <a:prstGeom prst="rect">
            <a:avLst/>
          </a:prstGeom>
          <a:solidFill>
            <a:srgbClr val="F08A24"/>
          </a:solidFill>
          <a:ln w="12700">
            <a:solidFill>
              <a:srgbClr val="F08A24"/>
            </a:solidFill>
            <a:prstDash val="solid"/>
          </a:ln>
        </p:spPr>
      </p:sp>
      <p:sp>
        <p:nvSpPr>
          <p:cNvPr id="30" name="strip hour 27"/>
          <p:cNvSpPr/>
          <p:nvPr/>
        </p:nvSpPr>
        <p:spPr>
          <a:xfrm>
            <a:off x="6526530" y="4343400"/>
            <a:ext cx="195453" cy="502920"/>
          </a:xfrm>
          <a:prstGeom prst="rect">
            <a:avLst/>
          </a:prstGeom>
          <a:solidFill>
            <a:srgbClr val="F08A24"/>
          </a:solidFill>
          <a:ln w="12700">
            <a:solidFill>
              <a:srgbClr val="F08A24"/>
            </a:solidFill>
            <a:prstDash val="solid"/>
          </a:ln>
        </p:spPr>
      </p:sp>
      <p:sp>
        <p:nvSpPr>
          <p:cNvPr id="31" name="strip hour 28"/>
          <p:cNvSpPr/>
          <p:nvPr/>
        </p:nvSpPr>
        <p:spPr>
          <a:xfrm>
            <a:off x="6749415" y="4343400"/>
            <a:ext cx="195453" cy="502920"/>
          </a:xfrm>
          <a:prstGeom prst="rect">
            <a:avLst/>
          </a:prstGeom>
          <a:solidFill>
            <a:srgbClr val="F08A24"/>
          </a:solidFill>
          <a:ln w="12700">
            <a:solidFill>
              <a:srgbClr val="F08A24"/>
            </a:solidFill>
            <a:prstDash val="solid"/>
          </a:ln>
        </p:spPr>
      </p:sp>
      <p:sp>
        <p:nvSpPr>
          <p:cNvPr id="32" name="strip hour 29"/>
          <p:cNvSpPr/>
          <p:nvPr/>
        </p:nvSpPr>
        <p:spPr>
          <a:xfrm>
            <a:off x="6972300" y="4343400"/>
            <a:ext cx="195453" cy="502920"/>
          </a:xfrm>
          <a:prstGeom prst="rect">
            <a:avLst/>
          </a:prstGeom>
          <a:solidFill>
            <a:srgbClr val="F08A24"/>
          </a:solidFill>
          <a:ln w="12700">
            <a:solidFill>
              <a:srgbClr val="F08A24"/>
            </a:solidFill>
            <a:prstDash val="solid"/>
          </a:ln>
        </p:spPr>
      </p:sp>
      <p:sp>
        <p:nvSpPr>
          <p:cNvPr id="33" name="strip hour 30"/>
          <p:cNvSpPr/>
          <p:nvPr/>
        </p:nvSpPr>
        <p:spPr>
          <a:xfrm>
            <a:off x="7195185" y="4343400"/>
            <a:ext cx="195453" cy="502920"/>
          </a:xfrm>
          <a:prstGeom prst="rect">
            <a:avLst/>
          </a:prstGeom>
          <a:solidFill>
            <a:srgbClr val="F08A24"/>
          </a:solidFill>
          <a:ln w="12700">
            <a:solidFill>
              <a:srgbClr val="F08A24"/>
            </a:solidFill>
            <a:prstDash val="solid"/>
          </a:ln>
        </p:spPr>
      </p:sp>
      <p:sp>
        <p:nvSpPr>
          <p:cNvPr id="34" name="strip hour 31"/>
          <p:cNvSpPr/>
          <p:nvPr/>
        </p:nvSpPr>
        <p:spPr>
          <a:xfrm>
            <a:off x="7418070" y="4343400"/>
            <a:ext cx="195453" cy="502920"/>
          </a:xfrm>
          <a:prstGeom prst="rect">
            <a:avLst/>
          </a:prstGeom>
          <a:solidFill>
            <a:srgbClr val="F2C230"/>
          </a:solidFill>
          <a:ln w="12700">
            <a:solidFill>
              <a:srgbClr val="F2C230"/>
            </a:solidFill>
            <a:prstDash val="solid"/>
          </a:ln>
        </p:spPr>
      </p:sp>
      <p:sp>
        <p:nvSpPr>
          <p:cNvPr id="35" name="strip hour 32"/>
          <p:cNvSpPr/>
          <p:nvPr/>
        </p:nvSpPr>
        <p:spPr>
          <a:xfrm>
            <a:off x="7640955" y="4343400"/>
            <a:ext cx="195453" cy="502920"/>
          </a:xfrm>
          <a:prstGeom prst="rect">
            <a:avLst/>
          </a:prstGeom>
          <a:solidFill>
            <a:srgbClr val="F2C230"/>
          </a:solidFill>
          <a:ln w="12700">
            <a:solidFill>
              <a:srgbClr val="F2C230"/>
            </a:solidFill>
            <a:prstDash val="solid"/>
          </a:ln>
        </p:spPr>
      </p:sp>
      <p:sp>
        <p:nvSpPr>
          <p:cNvPr id="36" name="strip hour 33"/>
          <p:cNvSpPr/>
          <p:nvPr/>
        </p:nvSpPr>
        <p:spPr>
          <a:xfrm>
            <a:off x="7863840" y="4343400"/>
            <a:ext cx="195453" cy="502920"/>
          </a:xfrm>
          <a:prstGeom prst="rect">
            <a:avLst/>
          </a:prstGeom>
          <a:solidFill>
            <a:srgbClr val="F2C230"/>
          </a:solidFill>
          <a:ln w="12700">
            <a:solidFill>
              <a:srgbClr val="F2C230"/>
            </a:solidFill>
            <a:prstDash val="solid"/>
          </a:ln>
        </p:spPr>
      </p:sp>
      <p:sp>
        <p:nvSpPr>
          <p:cNvPr id="37" name="strip hour 34"/>
          <p:cNvSpPr/>
          <p:nvPr/>
        </p:nvSpPr>
        <p:spPr>
          <a:xfrm>
            <a:off x="8086725" y="4343400"/>
            <a:ext cx="195453" cy="502920"/>
          </a:xfrm>
          <a:prstGeom prst="rect">
            <a:avLst/>
          </a:prstGeom>
          <a:solidFill>
            <a:srgbClr val="F2C230"/>
          </a:solidFill>
          <a:ln w="12700">
            <a:solidFill>
              <a:srgbClr val="F2C230"/>
            </a:solidFill>
            <a:prstDash val="solid"/>
          </a:ln>
        </p:spPr>
      </p:sp>
      <p:sp>
        <p:nvSpPr>
          <p:cNvPr id="38" name="strip hour 35"/>
          <p:cNvSpPr/>
          <p:nvPr/>
        </p:nvSpPr>
        <p:spPr>
          <a:xfrm>
            <a:off x="8309610" y="4343400"/>
            <a:ext cx="195453" cy="502920"/>
          </a:xfrm>
          <a:prstGeom prst="rect">
            <a:avLst/>
          </a:prstGeom>
          <a:solidFill>
            <a:srgbClr val="F2C230"/>
          </a:solidFill>
          <a:ln w="12700">
            <a:solidFill>
              <a:srgbClr val="F2C230"/>
            </a:solidFill>
            <a:prstDash val="solid"/>
          </a:ln>
        </p:spPr>
      </p:sp>
      <p:sp>
        <p:nvSpPr>
          <p:cNvPr id="39" name="strip hour 36"/>
          <p:cNvSpPr/>
          <p:nvPr/>
        </p:nvSpPr>
        <p:spPr>
          <a:xfrm>
            <a:off x="8532495" y="4343400"/>
            <a:ext cx="195453" cy="502920"/>
          </a:xfrm>
          <a:prstGeom prst="rect">
            <a:avLst/>
          </a:prstGeom>
          <a:solidFill>
            <a:srgbClr val="F2C230"/>
          </a:solidFill>
          <a:ln w="12700">
            <a:solidFill>
              <a:srgbClr val="F2C230"/>
            </a:solidFill>
            <a:prstDash val="solid"/>
          </a:ln>
        </p:spPr>
      </p:sp>
      <p:sp>
        <p:nvSpPr>
          <p:cNvPr id="40" name="strip hour 37"/>
          <p:cNvSpPr/>
          <p:nvPr/>
        </p:nvSpPr>
        <p:spPr>
          <a:xfrm>
            <a:off x="8755380" y="4343400"/>
            <a:ext cx="195453" cy="502920"/>
          </a:xfrm>
          <a:prstGeom prst="rect">
            <a:avLst/>
          </a:prstGeom>
          <a:solidFill>
            <a:srgbClr val="F2C230"/>
          </a:solidFill>
          <a:ln w="12700">
            <a:solidFill>
              <a:srgbClr val="F2C230"/>
            </a:solidFill>
            <a:prstDash val="solid"/>
          </a:ln>
        </p:spPr>
      </p:sp>
      <p:sp>
        <p:nvSpPr>
          <p:cNvPr id="41" name="strip hour 38"/>
          <p:cNvSpPr/>
          <p:nvPr/>
        </p:nvSpPr>
        <p:spPr>
          <a:xfrm>
            <a:off x="8978265" y="4343400"/>
            <a:ext cx="195453" cy="502920"/>
          </a:xfrm>
          <a:prstGeom prst="rect">
            <a:avLst/>
          </a:prstGeom>
          <a:solidFill>
            <a:srgbClr val="F2C230"/>
          </a:solidFill>
          <a:ln w="12700">
            <a:solidFill>
              <a:srgbClr val="F2C230"/>
            </a:solidFill>
            <a:prstDash val="solid"/>
          </a:ln>
        </p:spPr>
      </p:sp>
      <p:sp>
        <p:nvSpPr>
          <p:cNvPr id="42" name="strip hour 39"/>
          <p:cNvSpPr/>
          <p:nvPr/>
        </p:nvSpPr>
        <p:spPr>
          <a:xfrm>
            <a:off x="9201150" y="4343400"/>
            <a:ext cx="195453" cy="502920"/>
          </a:xfrm>
          <a:prstGeom prst="rect">
            <a:avLst/>
          </a:prstGeom>
          <a:solidFill>
            <a:srgbClr val="F2C230"/>
          </a:solidFill>
          <a:ln w="12700">
            <a:solidFill>
              <a:srgbClr val="F2C230"/>
            </a:solidFill>
            <a:prstDash val="solid"/>
          </a:ln>
        </p:spPr>
      </p:sp>
      <p:sp>
        <p:nvSpPr>
          <p:cNvPr id="43" name="strip hour 40"/>
          <p:cNvSpPr/>
          <p:nvPr/>
        </p:nvSpPr>
        <p:spPr>
          <a:xfrm>
            <a:off x="9424035" y="4343400"/>
            <a:ext cx="195453" cy="502920"/>
          </a:xfrm>
          <a:prstGeom prst="rect">
            <a:avLst/>
          </a:prstGeom>
          <a:solidFill>
            <a:srgbClr val="F08A24"/>
          </a:solidFill>
          <a:ln w="12700">
            <a:solidFill>
              <a:srgbClr val="F08A24"/>
            </a:solidFill>
            <a:prstDash val="solid"/>
          </a:ln>
        </p:spPr>
      </p:sp>
      <p:sp>
        <p:nvSpPr>
          <p:cNvPr id="44" name="strip hour 41"/>
          <p:cNvSpPr/>
          <p:nvPr/>
        </p:nvSpPr>
        <p:spPr>
          <a:xfrm>
            <a:off x="9646920" y="4343400"/>
            <a:ext cx="195453" cy="502920"/>
          </a:xfrm>
          <a:prstGeom prst="rect">
            <a:avLst/>
          </a:prstGeom>
          <a:solidFill>
            <a:srgbClr val="F08A24"/>
          </a:solidFill>
          <a:ln w="12700">
            <a:solidFill>
              <a:srgbClr val="F08A24"/>
            </a:solidFill>
            <a:prstDash val="solid"/>
          </a:ln>
        </p:spPr>
      </p:sp>
      <p:sp>
        <p:nvSpPr>
          <p:cNvPr id="45" name="strip hour 42"/>
          <p:cNvSpPr/>
          <p:nvPr/>
        </p:nvSpPr>
        <p:spPr>
          <a:xfrm>
            <a:off x="9869805" y="4343400"/>
            <a:ext cx="195453" cy="502920"/>
          </a:xfrm>
          <a:prstGeom prst="rect">
            <a:avLst/>
          </a:prstGeom>
          <a:solidFill>
            <a:srgbClr val="F08A24"/>
          </a:solidFill>
          <a:ln w="12700">
            <a:solidFill>
              <a:srgbClr val="F08A24"/>
            </a:solidFill>
            <a:prstDash val="solid"/>
          </a:ln>
        </p:spPr>
      </p:sp>
      <p:sp>
        <p:nvSpPr>
          <p:cNvPr id="46" name="strip hour 43"/>
          <p:cNvSpPr/>
          <p:nvPr/>
        </p:nvSpPr>
        <p:spPr>
          <a:xfrm>
            <a:off x="10092690" y="4343400"/>
            <a:ext cx="195453" cy="502920"/>
          </a:xfrm>
          <a:prstGeom prst="rect">
            <a:avLst/>
          </a:prstGeom>
          <a:solidFill>
            <a:srgbClr val="D9412B"/>
          </a:solidFill>
          <a:ln w="12700">
            <a:solidFill>
              <a:srgbClr val="D9412B"/>
            </a:solidFill>
            <a:prstDash val="solid"/>
          </a:ln>
        </p:spPr>
      </p:sp>
      <p:sp>
        <p:nvSpPr>
          <p:cNvPr id="47" name="strip hour 44"/>
          <p:cNvSpPr/>
          <p:nvPr/>
        </p:nvSpPr>
        <p:spPr>
          <a:xfrm>
            <a:off x="10315575" y="4343400"/>
            <a:ext cx="195453" cy="502920"/>
          </a:xfrm>
          <a:prstGeom prst="rect">
            <a:avLst/>
          </a:prstGeom>
          <a:solidFill>
            <a:srgbClr val="D9412B"/>
          </a:solidFill>
          <a:ln w="12700">
            <a:solidFill>
              <a:srgbClr val="D9412B"/>
            </a:solidFill>
            <a:prstDash val="solid"/>
          </a:ln>
        </p:spPr>
      </p:sp>
      <p:sp>
        <p:nvSpPr>
          <p:cNvPr id="48" name="strip hour 45"/>
          <p:cNvSpPr/>
          <p:nvPr/>
        </p:nvSpPr>
        <p:spPr>
          <a:xfrm>
            <a:off x="10538460" y="4343400"/>
            <a:ext cx="195453" cy="502920"/>
          </a:xfrm>
          <a:prstGeom prst="rect">
            <a:avLst/>
          </a:prstGeom>
          <a:solidFill>
            <a:srgbClr val="D9412B"/>
          </a:solidFill>
          <a:ln w="12700">
            <a:solidFill>
              <a:srgbClr val="D9412B"/>
            </a:solidFill>
            <a:prstDash val="solid"/>
          </a:ln>
        </p:spPr>
      </p:sp>
      <p:sp>
        <p:nvSpPr>
          <p:cNvPr id="49" name="strip hour 46"/>
          <p:cNvSpPr/>
          <p:nvPr/>
        </p:nvSpPr>
        <p:spPr>
          <a:xfrm>
            <a:off x="10761345" y="4343400"/>
            <a:ext cx="195453" cy="502920"/>
          </a:xfrm>
          <a:prstGeom prst="rect">
            <a:avLst/>
          </a:prstGeom>
          <a:solidFill>
            <a:srgbClr val="D9412B"/>
          </a:solidFill>
          <a:ln w="12700">
            <a:solidFill>
              <a:srgbClr val="D9412B"/>
            </a:solidFill>
            <a:prstDash val="solid"/>
          </a:ln>
        </p:spPr>
      </p:sp>
      <p:sp>
        <p:nvSpPr>
          <p:cNvPr id="50" name="strip hour 47"/>
          <p:cNvSpPr/>
          <p:nvPr/>
        </p:nvSpPr>
        <p:spPr>
          <a:xfrm>
            <a:off x="10984230" y="4343400"/>
            <a:ext cx="195453" cy="502920"/>
          </a:xfrm>
          <a:prstGeom prst="rect">
            <a:avLst/>
          </a:prstGeom>
          <a:solidFill>
            <a:srgbClr val="F08A24"/>
          </a:solidFill>
          <a:ln w="12700">
            <a:solidFill>
              <a:srgbClr val="F08A24"/>
            </a:solidFill>
            <a:prstDash val="solid"/>
          </a:ln>
        </p:spPr>
      </p:sp>
      <p:sp>
        <p:nvSpPr>
          <p:cNvPr id="51" name="strip hour 48"/>
          <p:cNvSpPr/>
          <p:nvPr/>
        </p:nvSpPr>
        <p:spPr>
          <a:xfrm>
            <a:off x="11207115" y="4343400"/>
            <a:ext cx="195453" cy="502920"/>
          </a:xfrm>
          <a:prstGeom prst="rect">
            <a:avLst/>
          </a:prstGeom>
          <a:solidFill>
            <a:srgbClr val="F08A24"/>
          </a:solidFill>
          <a:ln w="12700">
            <a:solidFill>
              <a:srgbClr val="F08A24"/>
            </a:solidFill>
            <a:prstDash val="solid"/>
          </a:ln>
        </p:spPr>
      </p:sp>
      <p:sp>
        <p:nvSpPr>
          <p:cNvPr id="52" name="Text 50"/>
          <p:cNvSpPr txBox="1"/>
          <p:nvPr/>
        </p:nvSpPr>
        <p:spPr>
          <a:xfrm>
            <a:off x="731520" y="4937760"/>
            <a:ext cx="10698480" cy="320040"/>
          </a:xfrm>
          <a:prstGeom prst="rect">
            <a:avLst/>
          </a:prstGeom>
          <a:noFill/>
          <a:ln/>
        </p:spPr>
        <p:txBody>
          <a:bodyPr wrap="square" lIns="0" tIns="0" rIns="0" bIns="0" rtlCol="0" anchor="ctr"/>
          <a:lstStyle/>
          <a:p>
            <a:pPr indent="0" marL="0">
              <a:buNone/>
            </a:pPr>
            <a:r>
              <a:rPr lang="en-US" sz="1200" dirty="0">
                <a:solidFill>
                  <a:srgbClr val="9FB0C6"/>
                </a:solidFill>
              </a:rPr>
              <a:t>A 48-hour forecast from our model, one block per hour, coloured by India's CPCB air-quality category</a:t>
            </a:r>
            <a:endParaRPr lang="en-US" sz="1200" dirty="0"/>
          </a:p>
        </p:txBody>
      </p:sp>
      <p:sp>
        <p:nvSpPr>
          <p:cNvPr id="53" name="Text 51"/>
          <p:cNvSpPr txBox="1"/>
          <p:nvPr/>
        </p:nvSpPr>
        <p:spPr>
          <a:xfrm>
            <a:off x="731520" y="5623560"/>
            <a:ext cx="5486400" cy="685800"/>
          </a:xfrm>
          <a:prstGeom prst="rect">
            <a:avLst/>
          </a:prstGeom>
          <a:noFill/>
          <a:ln/>
        </p:spPr>
        <p:txBody>
          <a:bodyPr wrap="square" lIns="0" tIns="0" rIns="0" bIns="0" rtlCol="0" anchor="ctr"/>
          <a:lstStyle/>
          <a:p>
            <a:pPr indent="0" marL="0">
              <a:buNone/>
            </a:pPr>
            <a:r>
              <a:rPr lang="en-US" sz="1600" b="1" dirty="0">
                <a:solidFill>
                  <a:srgbClr val="FFFFFF"/>
                </a:solidFill>
              </a:rPr>
              <a:t>Rupam Hari</a:t>
            </a:r>
            <a:endParaRPr lang="en-US" sz="1600" dirty="0"/>
          </a:p>
          <a:p>
            <a:pPr indent="0" marL="0">
              <a:buNone/>
            </a:pPr>
            <a:r>
              <a:rPr lang="en-US" sz="1600" dirty="0">
                <a:solidFill>
                  <a:srgbClr val="FFFFFF"/>
                </a:solidFill>
              </a:rPr>
              <a:t>M.Tech CSE  |  26CS60R04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Kolkata's air turns unhealthy every winter</a:t>
            </a:r>
            <a:endParaRPr lang="en-US" sz="3200" dirty="0"/>
          </a:p>
        </p:txBody>
      </p:sp>
      <p:graphicFrame>
        <p:nvGraphicFramePr>
          <p:cNvPr id="3" name="monthly PM2.5 chart"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371600"/>
            <a:ext cx="3749040" cy="822960"/>
          </a:xfrm>
          <a:prstGeom prst="rect">
            <a:avLst/>
          </a:prstGeom>
          <a:noFill/>
          <a:ln/>
        </p:spPr>
        <p:txBody>
          <a:bodyPr wrap="square" lIns="0" tIns="0" rIns="0" bIns="0" rtlCol="0" anchor="ctr"/>
          <a:lstStyle/>
          <a:p>
            <a:pPr indent="0" marL="0">
              <a:buNone/>
            </a:pPr>
            <a:r>
              <a:rPr lang="en-US" sz="4800" b="1" dirty="0">
                <a:solidFill>
                  <a:schemeClr val="accent5"/>
                </a:solidFill>
                <a:latin typeface="Calibri" pitchFamily="34" charset="0"/>
                <a:ea typeface="Calibri" pitchFamily="34" charset="-122"/>
                <a:cs typeface="Calibri" pitchFamily="34" charset="-120"/>
              </a:rPr>
              <a:t>31 / 31</a:t>
            </a:r>
            <a:endParaRPr lang="en-US" sz="4800" dirty="0"/>
          </a:p>
        </p:txBody>
      </p:sp>
      <p:sp>
        <p:nvSpPr>
          <p:cNvPr id="5" name="Text 2"/>
          <p:cNvSpPr txBox="1"/>
          <p:nvPr/>
        </p:nvSpPr>
        <p:spPr>
          <a:xfrm>
            <a:off x="7955280" y="2194560"/>
            <a:ext cx="3749040" cy="685800"/>
          </a:xfrm>
          <a:prstGeom prst="rect">
            <a:avLst/>
          </a:prstGeom>
          <a:noFill/>
          <a:ln/>
        </p:spPr>
        <p:txBody>
          <a:bodyPr wrap="square" lIns="0" tIns="0" rIns="0" bIns="0" rtlCol="0" anchor="ctr"/>
          <a:lstStyle/>
          <a:p>
            <a:pPr indent="0" marL="0">
              <a:buNone/>
            </a:pPr>
            <a:r>
              <a:rPr lang="en-US" sz="1500" dirty="0">
                <a:solidFill>
                  <a:schemeClr val="tx2"/>
                </a:solidFill>
              </a:rPr>
              <a:t>days in December 2025 above India's 24-hour limit of 60 µg/m³</a:t>
            </a:r>
            <a:endParaRPr lang="en-US" sz="1500" dirty="0"/>
          </a:p>
        </p:txBody>
      </p:sp>
      <p:sp>
        <p:nvSpPr>
          <p:cNvPr id="6" name="Text 3"/>
          <p:cNvSpPr txBox="1"/>
          <p:nvPr/>
        </p:nvSpPr>
        <p:spPr>
          <a:xfrm>
            <a:off x="7955280" y="2971800"/>
            <a:ext cx="3749040" cy="822960"/>
          </a:xfrm>
          <a:prstGeom prst="rect">
            <a:avLst/>
          </a:prstGeom>
          <a:noFill/>
          <a:ln/>
        </p:spPr>
        <p:txBody>
          <a:bodyPr wrap="square" lIns="0" tIns="0" rIns="0" bIns="0" rtlCol="0" anchor="ctr"/>
          <a:lstStyle/>
          <a:p>
            <a:pPr indent="0" marL="0">
              <a:buNone/>
            </a:pPr>
            <a:r>
              <a:rPr lang="en-US" sz="4800" b="1" dirty="0">
                <a:solidFill>
                  <a:schemeClr val="tx1"/>
                </a:solidFill>
                <a:latin typeface="Calibri" pitchFamily="34" charset="0"/>
                <a:ea typeface="Calibri" pitchFamily="34" charset="-122"/>
                <a:cs typeface="Calibri" pitchFamily="34" charset="-120"/>
              </a:rPr>
              <a:t>116 vs 20</a:t>
            </a:r>
            <a:endParaRPr lang="en-US" sz="4800" dirty="0"/>
          </a:p>
        </p:txBody>
      </p:sp>
      <p:sp>
        <p:nvSpPr>
          <p:cNvPr id="7" name="Text 4"/>
          <p:cNvSpPr txBox="1"/>
          <p:nvPr/>
        </p:nvSpPr>
        <p:spPr>
          <a:xfrm>
            <a:off x="7955280" y="3794760"/>
            <a:ext cx="3749040" cy="685800"/>
          </a:xfrm>
          <a:prstGeom prst="rect">
            <a:avLst/>
          </a:prstGeom>
          <a:noFill/>
          <a:ln/>
        </p:spPr>
        <p:txBody>
          <a:bodyPr wrap="square" lIns="0" tIns="0" rIns="0" bIns="0" rtlCol="0" anchor="ctr"/>
          <a:lstStyle/>
          <a:p>
            <a:pPr indent="0" marL="0">
              <a:buNone/>
            </a:pPr>
            <a:r>
              <a:rPr lang="en-US" sz="1500" dirty="0">
                <a:solidFill>
                  <a:schemeClr val="tx2"/>
                </a:solidFill>
              </a:rPr>
              <a:t>µg/m³: average in November vs July. The weather, not just emissions, drives this swing</a:t>
            </a:r>
            <a:endParaRPr lang="en-US" sz="1500" dirty="0"/>
          </a:p>
        </p:txBody>
      </p:sp>
      <p:sp>
        <p:nvSpPr>
          <p:cNvPr id="8" name="Text 5"/>
          <p:cNvSpPr txBox="1"/>
          <p:nvPr/>
        </p:nvSpPr>
        <p:spPr>
          <a:xfrm>
            <a:off x="7955280" y="4572000"/>
            <a:ext cx="3749040" cy="822960"/>
          </a:xfrm>
          <a:prstGeom prst="rect">
            <a:avLst/>
          </a:prstGeom>
          <a:noFill/>
          <a:ln/>
        </p:spPr>
        <p:txBody>
          <a:bodyPr wrap="square" lIns="0" tIns="0" rIns="0" bIns="0" rtlCol="0" anchor="ctr"/>
          <a:lstStyle/>
          <a:p>
            <a:pPr indent="0" marL="0">
              <a:buNone/>
            </a:pPr>
            <a:r>
              <a:rPr lang="en-US" sz="4800" b="1" dirty="0">
                <a:solidFill>
                  <a:schemeClr val="accent2"/>
                </a:solidFill>
                <a:latin typeface="Calibri" pitchFamily="34" charset="0"/>
                <a:ea typeface="Calibri" pitchFamily="34" charset="-122"/>
                <a:cs typeface="Calibri" pitchFamily="34" charset="-120"/>
              </a:rPr>
              <a:t>4×</a:t>
            </a:r>
            <a:endParaRPr lang="en-US" sz="4800" dirty="0"/>
          </a:p>
        </p:txBody>
      </p:sp>
      <p:sp>
        <p:nvSpPr>
          <p:cNvPr id="9" name="Text 6"/>
          <p:cNvSpPr txBox="1"/>
          <p:nvPr/>
        </p:nvSpPr>
        <p:spPr>
          <a:xfrm>
            <a:off x="7955280" y="5394960"/>
            <a:ext cx="3749040" cy="685800"/>
          </a:xfrm>
          <a:prstGeom prst="rect">
            <a:avLst/>
          </a:prstGeom>
          <a:noFill/>
          <a:ln/>
        </p:spPr>
        <p:txBody>
          <a:bodyPr wrap="square" lIns="0" tIns="0" rIns="0" bIns="0" rtlCol="0" anchor="ctr"/>
          <a:lstStyle/>
          <a:p>
            <a:pPr indent="0" marL="0">
              <a:buNone/>
            </a:pPr>
            <a:r>
              <a:rPr lang="en-US" sz="1500" dirty="0">
                <a:solidFill>
                  <a:schemeClr val="tx2"/>
                </a:solidFill>
              </a:rPr>
              <a:t>the WHO guideline (15 µg/m³) is exceeded on a typical winter day by more than four times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Three objectives, and what weather apps miss</a:t>
            </a:r>
            <a:endParaRPr lang="en-US" sz="3200" dirty="0"/>
          </a:p>
        </p:txBody>
      </p:sp>
      <p:sp>
        <p:nvSpPr>
          <p:cNvPr id="3" name="objective 1 card"/>
          <p:cNvSpPr/>
          <p:nvPr/>
        </p:nvSpPr>
        <p:spPr>
          <a:xfrm>
            <a:off x="548640" y="1280160"/>
            <a:ext cx="3474720" cy="2423160"/>
          </a:xfrm>
          <a:prstGeom prst="roundRect">
            <a:avLst>
              <a:gd name="adj" fmla="val 4528"/>
            </a:avLst>
          </a:prstGeom>
          <a:solidFill>
            <a:schemeClr val="bg2"/>
          </a:solidFill>
          <a:ln w="12700">
            <a:solidFill>
              <a:schemeClr val="bg2"/>
            </a:solidFill>
            <a:prstDash val="solid"/>
          </a:ln>
        </p:spPr>
      </p:sp>
      <p:sp>
        <p:nvSpPr>
          <p:cNvPr id="4" name="objective 1 icon circle"/>
          <p:cNvSpPr/>
          <p:nvPr/>
        </p:nvSpPr>
        <p:spPr>
          <a:xfrm>
            <a:off x="822960" y="1463040"/>
            <a:ext cx="640080" cy="640080"/>
          </a:xfrm>
          <a:prstGeom prst="ellipse">
            <a:avLst/>
          </a:prstGeom>
          <a:solidFill>
            <a:srgbClr val="2F6FDE"/>
          </a:solidFill>
          <a:ln w="12700">
            <a:solidFill>
              <a:srgbClr val="2F6FDE"/>
            </a:solidFill>
            <a:prstDash val="solid"/>
          </a:ln>
        </p:spPr>
      </p:sp>
      <p:pic>
        <p:nvPicPr>
          <p:cNvPr id="5" name="objective 1 icon" descr="preencoded.png">    </p:cNvPr>
          <p:cNvPicPr>
            <a:picLocks noChangeAspect="1"/>
          </p:cNvPicPr>
          <p:nvPr/>
        </p:nvPicPr>
        <p:blipFill>
          <a:blip r:embed="rId1"/>
          <a:stretch>
            <a:fillRect/>
          </a:stretch>
        </p:blipFill>
        <p:spPr>
          <a:xfrm>
            <a:off x="976579" y="1616659"/>
            <a:ext cx="332842" cy="332842"/>
          </a:xfrm>
          <a:prstGeom prst="rect">
            <a:avLst/>
          </a:prstGeom>
        </p:spPr>
      </p:pic>
      <p:sp>
        <p:nvSpPr>
          <p:cNvPr id="6" name="Text 3"/>
          <p:cNvSpPr txBox="1"/>
          <p:nvPr/>
        </p:nvSpPr>
        <p:spPr>
          <a:xfrm>
            <a:off x="1600200" y="146304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Collect and combine data</a:t>
            </a:r>
            <a:endParaRPr lang="en-US" sz="1800" dirty="0"/>
          </a:p>
        </p:txBody>
      </p:sp>
      <p:sp>
        <p:nvSpPr>
          <p:cNvPr id="7" name="Text 4"/>
          <p:cNvSpPr txBox="1"/>
          <p:nvPr/>
        </p:nvSpPr>
        <p:spPr>
          <a:xfrm>
            <a:off x="822960" y="2240280"/>
            <a:ext cx="2971800" cy="1371600"/>
          </a:xfrm>
          <a:prstGeom prst="rect">
            <a:avLst/>
          </a:prstGeom>
          <a:noFill/>
          <a:ln/>
        </p:spPr>
        <p:txBody>
          <a:bodyPr wrap="square" lIns="0" tIns="0" rIns="0" bIns="0" rtlCol="0" anchor="t"/>
          <a:lstStyle/>
          <a:p>
            <a:pPr indent="0" marL="0">
              <a:buNone/>
            </a:pPr>
            <a:r>
              <a:rPr lang="en-US" sz="1500" dirty="0">
                <a:solidFill>
                  <a:schemeClr val="tx2"/>
                </a:solidFill>
              </a:rPr>
              <a:t>Hourly PM2.5 from OpenAQ (WBPCB monitor) merged with Open-Meteo weather and CAMS on one hourly timeline</a:t>
            </a:r>
            <a:endParaRPr lang="en-US" sz="1500" dirty="0"/>
          </a:p>
        </p:txBody>
      </p:sp>
      <p:sp>
        <p:nvSpPr>
          <p:cNvPr id="8" name="objective 2 card"/>
          <p:cNvSpPr/>
          <p:nvPr/>
        </p:nvSpPr>
        <p:spPr>
          <a:xfrm>
            <a:off x="4297680" y="1280160"/>
            <a:ext cx="3474720" cy="2423160"/>
          </a:xfrm>
          <a:prstGeom prst="roundRect">
            <a:avLst>
              <a:gd name="adj" fmla="val 4528"/>
            </a:avLst>
          </a:prstGeom>
          <a:solidFill>
            <a:schemeClr val="bg2"/>
          </a:solidFill>
          <a:ln w="12700">
            <a:solidFill>
              <a:schemeClr val="bg2"/>
            </a:solidFill>
            <a:prstDash val="solid"/>
          </a:ln>
        </p:spPr>
      </p:sp>
      <p:sp>
        <p:nvSpPr>
          <p:cNvPr id="9" name="objective 2 icon circle"/>
          <p:cNvSpPr/>
          <p:nvPr/>
        </p:nvSpPr>
        <p:spPr>
          <a:xfrm>
            <a:off x="4572000" y="1463040"/>
            <a:ext cx="640080" cy="640080"/>
          </a:xfrm>
          <a:prstGeom prst="ellipse">
            <a:avLst/>
          </a:prstGeom>
          <a:solidFill>
            <a:srgbClr val="2F6FDE"/>
          </a:solidFill>
          <a:ln w="12700">
            <a:solidFill>
              <a:srgbClr val="2F6FDE"/>
            </a:solidFill>
            <a:prstDash val="solid"/>
          </a:ln>
        </p:spPr>
      </p:sp>
      <p:pic>
        <p:nvPicPr>
          <p:cNvPr id="10" name="objective 2 icon" descr="preencoded.png">    </p:cNvPr>
          <p:cNvPicPr>
            <a:picLocks noChangeAspect="1"/>
          </p:cNvPicPr>
          <p:nvPr/>
        </p:nvPicPr>
        <p:blipFill>
          <a:blip r:embed="rId2"/>
          <a:stretch>
            <a:fillRect/>
          </a:stretch>
        </p:blipFill>
        <p:spPr>
          <a:xfrm>
            <a:off x="4725619" y="1616659"/>
            <a:ext cx="332842" cy="332842"/>
          </a:xfrm>
          <a:prstGeom prst="rect">
            <a:avLst/>
          </a:prstGeom>
        </p:spPr>
      </p:pic>
      <p:sp>
        <p:nvSpPr>
          <p:cNvPr id="11" name="Text 7"/>
          <p:cNvSpPr txBox="1"/>
          <p:nvPr/>
        </p:nvSpPr>
        <p:spPr>
          <a:xfrm>
            <a:off x="5349240" y="146304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Predict future air quality</a:t>
            </a:r>
            <a:endParaRPr lang="en-US" sz="1800" dirty="0"/>
          </a:p>
        </p:txBody>
      </p:sp>
      <p:sp>
        <p:nvSpPr>
          <p:cNvPr id="12" name="Text 8"/>
          <p:cNvSpPr txBox="1"/>
          <p:nvPr/>
        </p:nvSpPr>
        <p:spPr>
          <a:xfrm>
            <a:off x="4572000" y="2240280"/>
            <a:ext cx="2971800" cy="1371600"/>
          </a:xfrm>
          <a:prstGeom prst="rect">
            <a:avLst/>
          </a:prstGeom>
          <a:noFill/>
          <a:ln/>
        </p:spPr>
        <p:txBody>
          <a:bodyPr wrap="square" lIns="0" tIns="0" rIns="0" bIns="0" rtlCol="0" anchor="t"/>
          <a:lstStyle/>
          <a:p>
            <a:pPr indent="0" marL="0">
              <a:buNone/>
            </a:pPr>
            <a:r>
              <a:rPr lang="en-US" sz="1500" dirty="0">
                <a:solidFill>
                  <a:schemeClr val="tx2"/>
                </a:solidFill>
              </a:rPr>
              <a:t>Gradient-boosted quantile models forecast every hour 1–60 h ahead, with a calibrated 80 % range</a:t>
            </a:r>
            <a:endParaRPr lang="en-US" sz="1500" dirty="0"/>
          </a:p>
        </p:txBody>
      </p:sp>
      <p:sp>
        <p:nvSpPr>
          <p:cNvPr id="13" name="objective 3 card"/>
          <p:cNvSpPr/>
          <p:nvPr/>
        </p:nvSpPr>
        <p:spPr>
          <a:xfrm>
            <a:off x="8046720" y="1280160"/>
            <a:ext cx="3474720" cy="2423160"/>
          </a:xfrm>
          <a:prstGeom prst="roundRect">
            <a:avLst>
              <a:gd name="adj" fmla="val 4528"/>
            </a:avLst>
          </a:prstGeom>
          <a:solidFill>
            <a:schemeClr val="bg2"/>
          </a:solidFill>
          <a:ln w="12700">
            <a:solidFill>
              <a:schemeClr val="bg2"/>
            </a:solidFill>
            <a:prstDash val="solid"/>
          </a:ln>
        </p:spPr>
      </p:sp>
      <p:sp>
        <p:nvSpPr>
          <p:cNvPr id="14" name="objective 3 icon circle"/>
          <p:cNvSpPr/>
          <p:nvPr/>
        </p:nvSpPr>
        <p:spPr>
          <a:xfrm>
            <a:off x="8321040" y="1463040"/>
            <a:ext cx="640080" cy="640080"/>
          </a:xfrm>
          <a:prstGeom prst="ellipse">
            <a:avLst/>
          </a:prstGeom>
          <a:solidFill>
            <a:srgbClr val="2F6FDE"/>
          </a:solidFill>
          <a:ln w="12700">
            <a:solidFill>
              <a:srgbClr val="2F6FDE"/>
            </a:solidFill>
            <a:prstDash val="solid"/>
          </a:ln>
        </p:spPr>
      </p:sp>
      <p:pic>
        <p:nvPicPr>
          <p:cNvPr id="15" name="objective 3 icon" descr="preencoded.png">    </p:cNvPr>
          <p:cNvPicPr>
            <a:picLocks noChangeAspect="1"/>
          </p:cNvPicPr>
          <p:nvPr/>
        </p:nvPicPr>
        <p:blipFill>
          <a:blip r:embed="rId3"/>
          <a:stretch>
            <a:fillRect/>
          </a:stretch>
        </p:blipFill>
        <p:spPr>
          <a:xfrm>
            <a:off x="8474659" y="1616659"/>
            <a:ext cx="332842" cy="332842"/>
          </a:xfrm>
          <a:prstGeom prst="rect">
            <a:avLst/>
          </a:prstGeom>
        </p:spPr>
      </p:pic>
      <p:sp>
        <p:nvSpPr>
          <p:cNvPr id="16" name="Text 11"/>
          <p:cNvSpPr txBox="1"/>
          <p:nvPr/>
        </p:nvSpPr>
        <p:spPr>
          <a:xfrm>
            <a:off x="9098280" y="146304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Early-warning dashboard</a:t>
            </a:r>
            <a:endParaRPr lang="en-US" sz="1800" dirty="0"/>
          </a:p>
        </p:txBody>
      </p:sp>
      <p:sp>
        <p:nvSpPr>
          <p:cNvPr id="17" name="Text 12"/>
          <p:cNvSpPr txBox="1"/>
          <p:nvPr/>
        </p:nvSpPr>
        <p:spPr>
          <a:xfrm>
            <a:off x="8321040" y="2240280"/>
            <a:ext cx="2971800" cy="1371600"/>
          </a:xfrm>
          <a:prstGeom prst="rect">
            <a:avLst/>
          </a:prstGeom>
          <a:noFill/>
          <a:ln/>
        </p:spPr>
        <p:txBody>
          <a:bodyPr wrap="square" lIns="0" tIns="0" rIns="0" bIns="0" rtlCol="0" anchor="t"/>
          <a:lstStyle/>
          <a:p>
            <a:pPr indent="0" marL="0">
              <a:buNone/>
            </a:pPr>
            <a:r>
              <a:rPr lang="en-US" sz="1500" dirty="0">
                <a:solidFill>
                  <a:schemeClr val="tx2"/>
                </a:solidFill>
              </a:rPr>
              <a:t>Streamlit app: warning levels, 48-hour strip, daily outlook, explanations, track record</a:t>
            </a:r>
            <a:endParaRPr lang="en-US" sz="1500" dirty="0"/>
          </a:p>
        </p:txBody>
      </p:sp>
      <p:sp>
        <p:nvSpPr>
          <p:cNvPr id="18" name="Text 13"/>
          <p:cNvSpPr txBox="1"/>
          <p:nvPr/>
        </p:nvSpPr>
        <p:spPr>
          <a:xfrm>
            <a:off x="548640" y="3977640"/>
            <a:ext cx="11064240" cy="411480"/>
          </a:xfrm>
          <a:prstGeom prst="rect">
            <a:avLst/>
          </a:prstGeom>
          <a:noFill/>
          <a:ln/>
        </p:spPr>
        <p:txBody>
          <a:bodyPr wrap="square" lIns="0" tIns="0" rIns="0" bIns="0" rtlCol="0" anchor="ctr"/>
          <a:lstStyle/>
          <a:p>
            <a:pPr indent="0" marL="0">
              <a:buNone/>
            </a:pPr>
            <a:r>
              <a:rPr lang="en-US" sz="1800" b="1" dirty="0">
                <a:solidFill>
                  <a:schemeClr val="tx1"/>
                </a:solidFill>
              </a:rPr>
              <a:t>What Google Weather doesn't give, and this system does</a:t>
            </a:r>
            <a:endParaRPr lang="en-US" sz="1800" dirty="0"/>
          </a:p>
        </p:txBody>
      </p:sp>
      <p:sp>
        <p:nvSpPr>
          <p:cNvPr id="19" name="gap 1"/>
          <p:cNvSpPr/>
          <p:nvPr/>
        </p:nvSpPr>
        <p:spPr>
          <a:xfrm>
            <a:off x="548640" y="4480560"/>
            <a:ext cx="1737360" cy="1097280"/>
          </a:xfrm>
          <a:prstGeom prst="roundRect">
            <a:avLst>
              <a:gd name="adj" fmla="val 10000"/>
            </a:avLst>
          </a:prstGeom>
          <a:solidFill>
            <a:srgbClr val="E6EEF8"/>
          </a:solidFill>
          <a:ln w="12700">
            <a:solidFill>
              <a:srgbClr val="E6EEF8"/>
            </a:solidFill>
            <a:prstDash val="solid"/>
          </a:ln>
        </p:spPr>
      </p:sp>
      <p:sp>
        <p:nvSpPr>
          <p:cNvPr id="20" name="Text 15"/>
          <p:cNvSpPr txBox="1"/>
          <p:nvPr/>
        </p:nvSpPr>
        <p:spPr>
          <a:xfrm>
            <a:off x="640080" y="4526280"/>
            <a:ext cx="1554480" cy="1005840"/>
          </a:xfrm>
          <a:prstGeom prst="rect">
            <a:avLst/>
          </a:prstGeom>
          <a:noFill/>
          <a:ln/>
        </p:spPr>
        <p:txBody>
          <a:bodyPr wrap="square" lIns="0" tIns="0" rIns="0" bIns="0" rtlCol="0" anchor="ctr"/>
          <a:lstStyle/>
          <a:p>
            <a:pPr algn="ctr" indent="0" marL="0">
              <a:buNone/>
            </a:pPr>
            <a:r>
              <a:rPr lang="en-US" sz="1600" b="1" dirty="0">
                <a:solidFill>
                  <a:srgbClr val="2F6FDE"/>
                </a:solidFill>
              </a:rPr>
              <a:t>Your station</a:t>
            </a:r>
            <a:endParaRPr lang="en-US" sz="1600" dirty="0"/>
          </a:p>
          <a:p>
            <a:pPr algn="ctr" indent="0" marL="0">
              <a:buNone/>
            </a:pPr>
            <a:r>
              <a:rPr lang="en-US" sz="1200" dirty="0">
                <a:solidFill>
                  <a:srgbClr val="3A4A63"/>
                </a:solidFill>
              </a:rPr>
              <a:t>not a ~45 km model grid</a:t>
            </a:r>
            <a:endParaRPr lang="en-US" sz="1600" dirty="0"/>
          </a:p>
        </p:txBody>
      </p:sp>
      <p:sp>
        <p:nvSpPr>
          <p:cNvPr id="21" name="gap 2"/>
          <p:cNvSpPr/>
          <p:nvPr/>
        </p:nvSpPr>
        <p:spPr>
          <a:xfrm>
            <a:off x="2414016" y="4480560"/>
            <a:ext cx="1737360" cy="1097280"/>
          </a:xfrm>
          <a:prstGeom prst="roundRect">
            <a:avLst>
              <a:gd name="adj" fmla="val 10000"/>
            </a:avLst>
          </a:prstGeom>
          <a:solidFill>
            <a:srgbClr val="E6EEF8"/>
          </a:solidFill>
          <a:ln w="12700">
            <a:solidFill>
              <a:srgbClr val="E6EEF8"/>
            </a:solidFill>
            <a:prstDash val="solid"/>
          </a:ln>
        </p:spPr>
      </p:sp>
      <p:sp>
        <p:nvSpPr>
          <p:cNvPr id="22" name="Text 17"/>
          <p:cNvSpPr txBox="1"/>
          <p:nvPr/>
        </p:nvSpPr>
        <p:spPr>
          <a:xfrm>
            <a:off x="2505456" y="4526280"/>
            <a:ext cx="1554480" cy="1005840"/>
          </a:xfrm>
          <a:prstGeom prst="rect">
            <a:avLst/>
          </a:prstGeom>
          <a:noFill/>
          <a:ln/>
        </p:spPr>
        <p:txBody>
          <a:bodyPr wrap="square" lIns="0" tIns="0" rIns="0" bIns="0" rtlCol="0" anchor="ctr"/>
          <a:lstStyle/>
          <a:p>
            <a:pPr algn="ctr" indent="0" marL="0">
              <a:buNone/>
            </a:pPr>
            <a:r>
              <a:rPr lang="en-US" sz="1600" b="1" dirty="0">
                <a:solidFill>
                  <a:srgbClr val="2F6FDE"/>
                </a:solidFill>
              </a:rPr>
              <a:t>Uncertainty</a:t>
            </a:r>
            <a:endParaRPr lang="en-US" sz="1600" dirty="0"/>
          </a:p>
          <a:p>
            <a:pPr algn="ctr" indent="0" marL="0">
              <a:buNone/>
            </a:pPr>
            <a:r>
              <a:rPr lang="en-US" sz="1200" dirty="0">
                <a:solidFill>
                  <a:srgbClr val="3A4A63"/>
                </a:solidFill>
              </a:rPr>
              <a:t>80 % range per hour</a:t>
            </a:r>
            <a:endParaRPr lang="en-US" sz="1600" dirty="0"/>
          </a:p>
        </p:txBody>
      </p:sp>
      <p:sp>
        <p:nvSpPr>
          <p:cNvPr id="23" name="gap 3"/>
          <p:cNvSpPr/>
          <p:nvPr/>
        </p:nvSpPr>
        <p:spPr>
          <a:xfrm>
            <a:off x="4279392" y="4480560"/>
            <a:ext cx="1737360" cy="1097280"/>
          </a:xfrm>
          <a:prstGeom prst="roundRect">
            <a:avLst>
              <a:gd name="adj" fmla="val 10000"/>
            </a:avLst>
          </a:prstGeom>
          <a:solidFill>
            <a:srgbClr val="E6EEF8"/>
          </a:solidFill>
          <a:ln w="12700">
            <a:solidFill>
              <a:srgbClr val="E6EEF8"/>
            </a:solidFill>
            <a:prstDash val="solid"/>
          </a:ln>
        </p:spPr>
      </p:sp>
      <p:sp>
        <p:nvSpPr>
          <p:cNvPr id="24" name="Text 19"/>
          <p:cNvSpPr txBox="1"/>
          <p:nvPr/>
        </p:nvSpPr>
        <p:spPr>
          <a:xfrm>
            <a:off x="4370832" y="4526280"/>
            <a:ext cx="1554480" cy="1005840"/>
          </a:xfrm>
          <a:prstGeom prst="rect">
            <a:avLst/>
          </a:prstGeom>
          <a:noFill/>
          <a:ln/>
        </p:spPr>
        <p:txBody>
          <a:bodyPr wrap="square" lIns="0" tIns="0" rIns="0" bIns="0" rtlCol="0" anchor="ctr"/>
          <a:lstStyle/>
          <a:p>
            <a:pPr algn="ctr" indent="0" marL="0">
              <a:buNone/>
            </a:pPr>
            <a:r>
              <a:rPr lang="en-US" sz="1600" b="1" dirty="0">
                <a:solidFill>
                  <a:srgbClr val="2F6FDE"/>
                </a:solidFill>
              </a:rPr>
              <a:t>Probability</a:t>
            </a:r>
            <a:endParaRPr lang="en-US" sz="1600" dirty="0"/>
          </a:p>
          <a:p>
            <a:pPr algn="ctr" indent="0" marL="0">
              <a:buNone/>
            </a:pPr>
            <a:r>
              <a:rPr lang="en-US" sz="1200" dirty="0">
                <a:solidFill>
                  <a:srgbClr val="3A4A63"/>
                </a:solidFill>
              </a:rPr>
              <a:t>of crossing your limit</a:t>
            </a:r>
            <a:endParaRPr lang="en-US" sz="1600" dirty="0"/>
          </a:p>
        </p:txBody>
      </p:sp>
      <p:sp>
        <p:nvSpPr>
          <p:cNvPr id="25" name="gap 4"/>
          <p:cNvSpPr/>
          <p:nvPr/>
        </p:nvSpPr>
        <p:spPr>
          <a:xfrm>
            <a:off x="6144768" y="4480560"/>
            <a:ext cx="1737360" cy="1097280"/>
          </a:xfrm>
          <a:prstGeom prst="roundRect">
            <a:avLst>
              <a:gd name="adj" fmla="val 10000"/>
            </a:avLst>
          </a:prstGeom>
          <a:solidFill>
            <a:srgbClr val="E6EEF8"/>
          </a:solidFill>
          <a:ln w="12700">
            <a:solidFill>
              <a:srgbClr val="E6EEF8"/>
            </a:solidFill>
            <a:prstDash val="solid"/>
          </a:ln>
        </p:spPr>
      </p:sp>
      <p:sp>
        <p:nvSpPr>
          <p:cNvPr id="26" name="Text 21"/>
          <p:cNvSpPr txBox="1"/>
          <p:nvPr/>
        </p:nvSpPr>
        <p:spPr>
          <a:xfrm>
            <a:off x="6236208" y="4526280"/>
            <a:ext cx="1554480" cy="1005840"/>
          </a:xfrm>
          <a:prstGeom prst="rect">
            <a:avLst/>
          </a:prstGeom>
          <a:noFill/>
          <a:ln/>
        </p:spPr>
        <p:txBody>
          <a:bodyPr wrap="square" lIns="0" tIns="0" rIns="0" bIns="0" rtlCol="0" anchor="ctr"/>
          <a:lstStyle/>
          <a:p>
            <a:pPr algn="ctr" indent="0" marL="0">
              <a:buNone/>
            </a:pPr>
            <a:r>
              <a:rPr lang="en-US" sz="1600" b="1" dirty="0">
                <a:solidFill>
                  <a:srgbClr val="2F6FDE"/>
                </a:solidFill>
              </a:rPr>
              <a:t>Early warning</a:t>
            </a:r>
            <a:endParaRPr lang="en-US" sz="1600" dirty="0"/>
          </a:p>
          <a:p>
            <a:pPr algn="ctr" indent="0" marL="0">
              <a:buNone/>
            </a:pPr>
            <a:r>
              <a:rPr lang="en-US" sz="1200" dirty="0">
                <a:solidFill>
                  <a:srgbClr val="3A4A63"/>
                </a:solidFill>
              </a:rPr>
              <a:t>start, duration, peak</a:t>
            </a:r>
            <a:endParaRPr lang="en-US" sz="1600" dirty="0"/>
          </a:p>
        </p:txBody>
      </p:sp>
      <p:sp>
        <p:nvSpPr>
          <p:cNvPr id="27" name="gap 5"/>
          <p:cNvSpPr/>
          <p:nvPr/>
        </p:nvSpPr>
        <p:spPr>
          <a:xfrm>
            <a:off x="8010144" y="4480560"/>
            <a:ext cx="1737360" cy="1097280"/>
          </a:xfrm>
          <a:prstGeom prst="roundRect">
            <a:avLst>
              <a:gd name="adj" fmla="val 10000"/>
            </a:avLst>
          </a:prstGeom>
          <a:solidFill>
            <a:srgbClr val="E6EEF8"/>
          </a:solidFill>
          <a:ln w="12700">
            <a:solidFill>
              <a:srgbClr val="E6EEF8"/>
            </a:solidFill>
            <a:prstDash val="solid"/>
          </a:ln>
        </p:spPr>
      </p:sp>
      <p:sp>
        <p:nvSpPr>
          <p:cNvPr id="28" name="Text 23"/>
          <p:cNvSpPr txBox="1"/>
          <p:nvPr/>
        </p:nvSpPr>
        <p:spPr>
          <a:xfrm>
            <a:off x="8101584" y="4526280"/>
            <a:ext cx="1554480" cy="1005840"/>
          </a:xfrm>
          <a:prstGeom prst="rect">
            <a:avLst/>
          </a:prstGeom>
          <a:noFill/>
          <a:ln/>
        </p:spPr>
        <p:txBody>
          <a:bodyPr wrap="square" lIns="0" tIns="0" rIns="0" bIns="0" rtlCol="0" anchor="ctr"/>
          <a:lstStyle/>
          <a:p>
            <a:pPr algn="ctr" indent="0" marL="0">
              <a:buNone/>
            </a:pPr>
            <a:r>
              <a:rPr lang="en-US" sz="1600" b="1" dirty="0">
                <a:solidFill>
                  <a:srgbClr val="2F6FDE"/>
                </a:solidFill>
              </a:rPr>
              <a:t>Explanation</a:t>
            </a:r>
            <a:endParaRPr lang="en-US" sz="1600" dirty="0"/>
          </a:p>
          <a:p>
            <a:pPr algn="ctr" indent="0" marL="0">
              <a:buNone/>
            </a:pPr>
            <a:r>
              <a:rPr lang="en-US" sz="1200" dirty="0">
                <a:solidFill>
                  <a:srgbClr val="3A4A63"/>
                </a:solidFill>
              </a:rPr>
              <a:t>wind, mixing, rain</a:t>
            </a:r>
            <a:endParaRPr lang="en-US" sz="1600" dirty="0"/>
          </a:p>
        </p:txBody>
      </p:sp>
      <p:sp>
        <p:nvSpPr>
          <p:cNvPr id="29" name="gap 6"/>
          <p:cNvSpPr/>
          <p:nvPr/>
        </p:nvSpPr>
        <p:spPr>
          <a:xfrm>
            <a:off x="9875520" y="4480560"/>
            <a:ext cx="1737360" cy="1097280"/>
          </a:xfrm>
          <a:prstGeom prst="roundRect">
            <a:avLst>
              <a:gd name="adj" fmla="val 10000"/>
            </a:avLst>
          </a:prstGeom>
          <a:solidFill>
            <a:srgbClr val="E6EEF8"/>
          </a:solidFill>
          <a:ln w="12700">
            <a:solidFill>
              <a:srgbClr val="E6EEF8"/>
            </a:solidFill>
            <a:prstDash val="solid"/>
          </a:ln>
        </p:spPr>
      </p:sp>
      <p:sp>
        <p:nvSpPr>
          <p:cNvPr id="30" name="Text 25"/>
          <p:cNvSpPr txBox="1"/>
          <p:nvPr/>
        </p:nvSpPr>
        <p:spPr>
          <a:xfrm>
            <a:off x="9966960" y="4526280"/>
            <a:ext cx="1554480" cy="1005840"/>
          </a:xfrm>
          <a:prstGeom prst="rect">
            <a:avLst/>
          </a:prstGeom>
          <a:noFill/>
          <a:ln/>
        </p:spPr>
        <p:txBody>
          <a:bodyPr wrap="square" lIns="0" tIns="0" rIns="0" bIns="0" rtlCol="0" anchor="ctr"/>
          <a:lstStyle/>
          <a:p>
            <a:pPr algn="ctr" indent="0" marL="0">
              <a:buNone/>
            </a:pPr>
            <a:r>
              <a:rPr lang="en-US" sz="1600" b="1" dirty="0">
                <a:solidFill>
                  <a:srgbClr val="2F6FDE"/>
                </a:solidFill>
              </a:rPr>
              <a:t>Track record</a:t>
            </a:r>
            <a:endParaRPr lang="en-US" sz="1600" dirty="0"/>
          </a:p>
          <a:p>
            <a:pPr algn="ctr" indent="0" marL="0">
              <a:buNone/>
            </a:pPr>
            <a:r>
              <a:rPr lang="en-US" sz="1200" dirty="0">
                <a:solidFill>
                  <a:srgbClr val="3A4A63"/>
                </a:solidFill>
              </a:rPr>
              <a:t>accuracy vs baselines</a:t>
            </a:r>
            <a:endParaRPr lang="en-US" sz="1600" dirty="0"/>
          </a:p>
        </p:txBody>
      </p:sp>
      <p:sp>
        <p:nvSpPr>
          <p:cNvPr id="31" name="Text 26"/>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b="1" dirty="0">
                <a:solidFill>
                  <a:srgbClr val="1B2A41"/>
                </a:solidFill>
              </a:rPr>
              <a:t>Checkpoint-2 scope: </a:t>
            </a:r>
            <a:pPr indent="0" marL="0">
              <a:buNone/>
            </a:pPr>
            <a:r>
              <a:rPr lang="en-US" sz="1400" dirty="0">
                <a:solidFill>
                  <a:schemeClr val="tx2"/>
                </a:solidFill>
              </a:rPr>
              <a:t>Kolkata, one automatically chosen monitoring station, warnings shown in the dashboard.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From raw feeds to a calibrated forecast</a:t>
            </a:r>
            <a:endParaRPr lang="en-US" sz="3200" dirty="0"/>
          </a:p>
        </p:txBody>
      </p:sp>
      <p:sp>
        <p:nvSpPr>
          <p:cNvPr id="3" name="step 1 icon circle"/>
          <p:cNvSpPr/>
          <p:nvPr/>
        </p:nvSpPr>
        <p:spPr>
          <a:xfrm>
            <a:off x="1005840" y="1325880"/>
            <a:ext cx="868680" cy="868680"/>
          </a:xfrm>
          <a:prstGeom prst="ellipse">
            <a:avLst/>
          </a:prstGeom>
          <a:solidFill>
            <a:srgbClr val="2F6FDE"/>
          </a:solidFill>
          <a:ln w="12700">
            <a:solidFill>
              <a:srgbClr val="2F6FDE"/>
            </a:solidFill>
            <a:prstDash val="solid"/>
          </a:ln>
        </p:spPr>
      </p:sp>
      <p:pic>
        <p:nvPicPr>
          <p:cNvPr id="4" name="step 1 icon" descr="preencoded.png">    </p:cNvPr>
          <p:cNvPicPr>
            <a:picLocks noChangeAspect="1"/>
          </p:cNvPicPr>
          <p:nvPr/>
        </p:nvPicPr>
        <p:blipFill>
          <a:blip r:embed="rId1"/>
          <a:stretch>
            <a:fillRect/>
          </a:stretch>
        </p:blipFill>
        <p:spPr>
          <a:xfrm>
            <a:off x="1214323" y="1534363"/>
            <a:ext cx="451714" cy="451714"/>
          </a:xfrm>
          <a:prstGeom prst="rect">
            <a:avLst/>
          </a:prstGeom>
        </p:spPr>
      </p:pic>
      <p:sp>
        <p:nvSpPr>
          <p:cNvPr id="5" name="Text 2"/>
          <p:cNvSpPr txBox="1"/>
          <p:nvPr/>
        </p:nvSpPr>
        <p:spPr>
          <a:xfrm>
            <a:off x="548640" y="2286000"/>
            <a:ext cx="1783080" cy="411480"/>
          </a:xfrm>
          <a:prstGeom prst="rect">
            <a:avLst/>
          </a:prstGeom>
          <a:noFill/>
          <a:ln/>
        </p:spPr>
        <p:txBody>
          <a:bodyPr wrap="square" lIns="0" tIns="0" rIns="0" bIns="0" rtlCol="0" anchor="ctr"/>
          <a:lstStyle/>
          <a:p>
            <a:pPr algn="ctr" indent="0" marL="0">
              <a:buNone/>
            </a:pPr>
            <a:r>
              <a:rPr lang="en-US" sz="1800" b="1" dirty="0">
                <a:solidFill>
                  <a:schemeClr val="tx1"/>
                </a:solidFill>
              </a:rPr>
              <a:t>Collect</a:t>
            </a:r>
            <a:endParaRPr lang="en-US" sz="1800" dirty="0"/>
          </a:p>
        </p:txBody>
      </p:sp>
      <p:sp>
        <p:nvSpPr>
          <p:cNvPr id="6" name="Text 3"/>
          <p:cNvSpPr txBox="1"/>
          <p:nvPr/>
        </p:nvSpPr>
        <p:spPr>
          <a:xfrm>
            <a:off x="548640" y="2724912"/>
            <a:ext cx="1783080" cy="914400"/>
          </a:xfrm>
          <a:prstGeom prst="rect">
            <a:avLst/>
          </a:prstGeom>
          <a:noFill/>
          <a:ln/>
        </p:spPr>
        <p:txBody>
          <a:bodyPr wrap="square" lIns="0" tIns="0" rIns="0" bIns="0" rtlCol="0" anchor="t"/>
          <a:lstStyle/>
          <a:p>
            <a:pPr algn="ctr" indent="0" marL="0">
              <a:buNone/>
            </a:pPr>
            <a:r>
              <a:rPr lang="en-US" sz="1400" dirty="0">
                <a:solidFill>
                  <a:schemeClr val="tx2"/>
                </a:solidFill>
              </a:rPr>
              <a:t>OpenAQ station PM2.5</a:t>
            </a:r>
            <a:endParaRPr lang="en-US" sz="1400" dirty="0"/>
          </a:p>
          <a:p>
            <a:pPr algn="ctr" indent="0" marL="0">
              <a:buNone/>
            </a:pPr>
            <a:r>
              <a:rPr lang="en-US" sz="1400" dirty="0">
                <a:solidFill>
                  <a:schemeClr val="tx2"/>
                </a:solidFill>
              </a:rPr>
              <a:t>Open-Meteo weather</a:t>
            </a:r>
            <a:endParaRPr lang="en-US" sz="1400" dirty="0"/>
          </a:p>
          <a:p>
            <a:pPr algn="ctr" indent="0" marL="0">
              <a:buNone/>
            </a:pPr>
            <a:r>
              <a:rPr lang="en-US" sz="1400" dirty="0">
                <a:solidFill>
                  <a:schemeClr val="tx2"/>
                </a:solidFill>
              </a:rPr>
              <a:t>CAMS regional model</a:t>
            </a:r>
            <a:endParaRPr lang="en-US" sz="1400" dirty="0"/>
          </a:p>
        </p:txBody>
      </p:sp>
      <p:sp>
        <p:nvSpPr>
          <p:cNvPr id="7" name="arrow 1"/>
          <p:cNvSpPr/>
          <p:nvPr/>
        </p:nvSpPr>
        <p:spPr>
          <a:xfrm>
            <a:off x="2029968" y="1627632"/>
            <a:ext cx="384048" cy="274320"/>
          </a:xfrm>
          <a:prstGeom prst="rightArrow">
            <a:avLst/>
          </a:prstGeom>
          <a:solidFill>
            <a:srgbClr val="C9D4E3"/>
          </a:solidFill>
          <a:ln w="12700">
            <a:solidFill>
              <a:srgbClr val="C9D4E3"/>
            </a:solidFill>
            <a:prstDash val="solid"/>
          </a:ln>
        </p:spPr>
      </p:sp>
      <p:sp>
        <p:nvSpPr>
          <p:cNvPr id="8" name="step 2 icon circle"/>
          <p:cNvSpPr/>
          <p:nvPr/>
        </p:nvSpPr>
        <p:spPr>
          <a:xfrm>
            <a:off x="2889504" y="1325880"/>
            <a:ext cx="868680" cy="868680"/>
          </a:xfrm>
          <a:prstGeom prst="ellipse">
            <a:avLst/>
          </a:prstGeom>
          <a:solidFill>
            <a:srgbClr val="2F6FDE"/>
          </a:solidFill>
          <a:ln w="12700">
            <a:solidFill>
              <a:srgbClr val="2F6FDE"/>
            </a:solidFill>
            <a:prstDash val="solid"/>
          </a:ln>
        </p:spPr>
      </p:sp>
      <p:pic>
        <p:nvPicPr>
          <p:cNvPr id="9" name="step 2 icon" descr="preencoded.png">    </p:cNvPr>
          <p:cNvPicPr>
            <a:picLocks noChangeAspect="1"/>
          </p:cNvPicPr>
          <p:nvPr/>
        </p:nvPicPr>
        <p:blipFill>
          <a:blip r:embed="rId2"/>
          <a:stretch>
            <a:fillRect/>
          </a:stretch>
        </p:blipFill>
        <p:spPr>
          <a:xfrm>
            <a:off x="3097987" y="1534363"/>
            <a:ext cx="451714" cy="451714"/>
          </a:xfrm>
          <a:prstGeom prst="rect">
            <a:avLst/>
          </a:prstGeom>
        </p:spPr>
      </p:pic>
      <p:sp>
        <p:nvSpPr>
          <p:cNvPr id="10" name="Text 6"/>
          <p:cNvSpPr txBox="1"/>
          <p:nvPr/>
        </p:nvSpPr>
        <p:spPr>
          <a:xfrm>
            <a:off x="2432304" y="2286000"/>
            <a:ext cx="1783080" cy="411480"/>
          </a:xfrm>
          <a:prstGeom prst="rect">
            <a:avLst/>
          </a:prstGeom>
          <a:noFill/>
          <a:ln/>
        </p:spPr>
        <p:txBody>
          <a:bodyPr wrap="square" lIns="0" tIns="0" rIns="0" bIns="0" rtlCol="0" anchor="ctr"/>
          <a:lstStyle/>
          <a:p>
            <a:pPr algn="ctr" indent="0" marL="0">
              <a:buNone/>
            </a:pPr>
            <a:r>
              <a:rPr lang="en-US" sz="1800" b="1" dirty="0">
                <a:solidFill>
                  <a:schemeClr val="tx1"/>
                </a:solidFill>
              </a:rPr>
              <a:t>Clean</a:t>
            </a:r>
            <a:endParaRPr lang="en-US" sz="1800" dirty="0"/>
          </a:p>
        </p:txBody>
      </p:sp>
      <p:sp>
        <p:nvSpPr>
          <p:cNvPr id="11" name="Text 7"/>
          <p:cNvSpPr txBox="1"/>
          <p:nvPr/>
        </p:nvSpPr>
        <p:spPr>
          <a:xfrm>
            <a:off x="2432304" y="2724912"/>
            <a:ext cx="1783080" cy="914400"/>
          </a:xfrm>
          <a:prstGeom prst="rect">
            <a:avLst/>
          </a:prstGeom>
          <a:noFill/>
          <a:ln/>
        </p:spPr>
        <p:txBody>
          <a:bodyPr wrap="square" lIns="0" tIns="0" rIns="0" bIns="0" rtlCol="0" anchor="t"/>
          <a:lstStyle/>
          <a:p>
            <a:pPr algn="ctr" indent="0" marL="0">
              <a:buNone/>
            </a:pPr>
            <a:r>
              <a:rPr lang="en-US" sz="1400" dirty="0">
                <a:solidFill>
                  <a:schemeClr val="tx2"/>
                </a:solidFill>
              </a:rPr>
              <a:t>Remove bad readings</a:t>
            </a:r>
            <a:endParaRPr lang="en-US" sz="1400" dirty="0"/>
          </a:p>
          <a:p>
            <a:pPr algn="ctr" indent="0" marL="0">
              <a:buNone/>
            </a:pPr>
            <a:r>
              <a:rPr lang="en-US" sz="1400" dirty="0">
                <a:solidFill>
                  <a:schemeClr val="tx2"/>
                </a:solidFill>
              </a:rPr>
              <a:t>fill only short gaps</a:t>
            </a:r>
            <a:endParaRPr lang="en-US" sz="1400" dirty="0"/>
          </a:p>
          <a:p>
            <a:pPr algn="ctr" indent="0" marL="0">
              <a:buNone/>
            </a:pPr>
            <a:r>
              <a:rPr lang="en-US" sz="1400" dirty="0">
                <a:solidFill>
                  <a:schemeClr val="tx2"/>
                </a:solidFill>
              </a:rPr>
              <a:t>bridge station outages</a:t>
            </a:r>
            <a:endParaRPr lang="en-US" sz="1400" dirty="0"/>
          </a:p>
        </p:txBody>
      </p:sp>
      <p:sp>
        <p:nvSpPr>
          <p:cNvPr id="12" name="arrow 2"/>
          <p:cNvSpPr/>
          <p:nvPr/>
        </p:nvSpPr>
        <p:spPr>
          <a:xfrm>
            <a:off x="3913632" y="1627632"/>
            <a:ext cx="384048" cy="274320"/>
          </a:xfrm>
          <a:prstGeom prst="rightArrow">
            <a:avLst/>
          </a:prstGeom>
          <a:solidFill>
            <a:srgbClr val="C9D4E3"/>
          </a:solidFill>
          <a:ln w="12700">
            <a:solidFill>
              <a:srgbClr val="C9D4E3"/>
            </a:solidFill>
            <a:prstDash val="solid"/>
          </a:ln>
        </p:spPr>
      </p:sp>
      <p:sp>
        <p:nvSpPr>
          <p:cNvPr id="13" name="step 3 icon circle"/>
          <p:cNvSpPr/>
          <p:nvPr/>
        </p:nvSpPr>
        <p:spPr>
          <a:xfrm>
            <a:off x="4773168" y="1325880"/>
            <a:ext cx="868680" cy="868680"/>
          </a:xfrm>
          <a:prstGeom prst="ellipse">
            <a:avLst/>
          </a:prstGeom>
          <a:solidFill>
            <a:srgbClr val="2F6FDE"/>
          </a:solidFill>
          <a:ln w="12700">
            <a:solidFill>
              <a:srgbClr val="2F6FDE"/>
            </a:solidFill>
            <a:prstDash val="solid"/>
          </a:ln>
        </p:spPr>
      </p:sp>
      <p:pic>
        <p:nvPicPr>
          <p:cNvPr id="14" name="step 3 icon" descr="preencoded.png">    </p:cNvPr>
          <p:cNvPicPr>
            <a:picLocks noChangeAspect="1"/>
          </p:cNvPicPr>
          <p:nvPr/>
        </p:nvPicPr>
        <p:blipFill>
          <a:blip r:embed="rId3"/>
          <a:stretch>
            <a:fillRect/>
          </a:stretch>
        </p:blipFill>
        <p:spPr>
          <a:xfrm>
            <a:off x="4981651" y="1534363"/>
            <a:ext cx="451714" cy="451714"/>
          </a:xfrm>
          <a:prstGeom prst="rect">
            <a:avLst/>
          </a:prstGeom>
        </p:spPr>
      </p:pic>
      <p:sp>
        <p:nvSpPr>
          <p:cNvPr id="15" name="Text 10"/>
          <p:cNvSpPr txBox="1"/>
          <p:nvPr/>
        </p:nvSpPr>
        <p:spPr>
          <a:xfrm>
            <a:off x="4315968" y="2286000"/>
            <a:ext cx="1783080" cy="411480"/>
          </a:xfrm>
          <a:prstGeom prst="rect">
            <a:avLst/>
          </a:prstGeom>
          <a:noFill/>
          <a:ln/>
        </p:spPr>
        <p:txBody>
          <a:bodyPr wrap="square" lIns="0" tIns="0" rIns="0" bIns="0" rtlCol="0" anchor="ctr"/>
          <a:lstStyle/>
          <a:p>
            <a:pPr algn="ctr" indent="0" marL="0">
              <a:buNone/>
            </a:pPr>
            <a:r>
              <a:rPr lang="en-US" sz="1800" b="1" dirty="0">
                <a:solidFill>
                  <a:schemeClr val="tx1"/>
                </a:solidFill>
              </a:rPr>
              <a:t>Merge</a:t>
            </a:r>
            <a:endParaRPr lang="en-US" sz="1800" dirty="0"/>
          </a:p>
        </p:txBody>
      </p:sp>
      <p:sp>
        <p:nvSpPr>
          <p:cNvPr id="16" name="Text 11"/>
          <p:cNvSpPr txBox="1"/>
          <p:nvPr/>
        </p:nvSpPr>
        <p:spPr>
          <a:xfrm>
            <a:off x="4315968" y="2724912"/>
            <a:ext cx="1783080" cy="914400"/>
          </a:xfrm>
          <a:prstGeom prst="rect">
            <a:avLst/>
          </a:prstGeom>
          <a:noFill/>
          <a:ln/>
        </p:spPr>
        <p:txBody>
          <a:bodyPr wrap="square" lIns="0" tIns="0" rIns="0" bIns="0" rtlCol="0" anchor="t"/>
          <a:lstStyle/>
          <a:p>
            <a:pPr algn="ctr" indent="0" marL="0">
              <a:buNone/>
            </a:pPr>
            <a:r>
              <a:rPr lang="en-US" sz="1400" dirty="0">
                <a:solidFill>
                  <a:schemeClr val="tx2"/>
                </a:solidFill>
              </a:rPr>
              <a:t>One hourly UTC timeline</a:t>
            </a:r>
            <a:endParaRPr lang="en-US" sz="1400" dirty="0"/>
          </a:p>
          <a:p>
            <a:pPr algn="ctr" indent="0" marL="0">
              <a:buNone/>
            </a:pPr>
            <a:r>
              <a:rPr lang="en-US" sz="1400" dirty="0">
                <a:solidFill>
                  <a:schemeClr val="tx2"/>
                </a:solidFill>
              </a:rPr>
              <a:t>shown in IST</a:t>
            </a:r>
            <a:endParaRPr lang="en-US" sz="1400" dirty="0"/>
          </a:p>
        </p:txBody>
      </p:sp>
      <p:sp>
        <p:nvSpPr>
          <p:cNvPr id="17" name="arrow 3"/>
          <p:cNvSpPr/>
          <p:nvPr/>
        </p:nvSpPr>
        <p:spPr>
          <a:xfrm>
            <a:off x="5797296" y="1627632"/>
            <a:ext cx="384048" cy="274320"/>
          </a:xfrm>
          <a:prstGeom prst="rightArrow">
            <a:avLst/>
          </a:prstGeom>
          <a:solidFill>
            <a:srgbClr val="C9D4E3"/>
          </a:solidFill>
          <a:ln w="12700">
            <a:solidFill>
              <a:srgbClr val="C9D4E3"/>
            </a:solidFill>
            <a:prstDash val="solid"/>
          </a:ln>
        </p:spPr>
      </p:sp>
      <p:sp>
        <p:nvSpPr>
          <p:cNvPr id="18" name="step 4 icon circle"/>
          <p:cNvSpPr/>
          <p:nvPr/>
        </p:nvSpPr>
        <p:spPr>
          <a:xfrm>
            <a:off x="6656832" y="1325880"/>
            <a:ext cx="868680" cy="868680"/>
          </a:xfrm>
          <a:prstGeom prst="ellipse">
            <a:avLst/>
          </a:prstGeom>
          <a:solidFill>
            <a:srgbClr val="2F6FDE"/>
          </a:solidFill>
          <a:ln w="12700">
            <a:solidFill>
              <a:srgbClr val="2F6FDE"/>
            </a:solidFill>
            <a:prstDash val="solid"/>
          </a:ln>
        </p:spPr>
      </p:sp>
      <p:pic>
        <p:nvPicPr>
          <p:cNvPr id="19" name="step 4 icon" descr="preencoded.png">    </p:cNvPr>
          <p:cNvPicPr>
            <a:picLocks noChangeAspect="1"/>
          </p:cNvPicPr>
          <p:nvPr/>
        </p:nvPicPr>
        <p:blipFill>
          <a:blip r:embed="rId4"/>
          <a:stretch>
            <a:fillRect/>
          </a:stretch>
        </p:blipFill>
        <p:spPr>
          <a:xfrm>
            <a:off x="6865315" y="1534363"/>
            <a:ext cx="451714" cy="451714"/>
          </a:xfrm>
          <a:prstGeom prst="rect">
            <a:avLst/>
          </a:prstGeom>
        </p:spPr>
      </p:pic>
      <p:sp>
        <p:nvSpPr>
          <p:cNvPr id="20" name="Text 14"/>
          <p:cNvSpPr txBox="1"/>
          <p:nvPr/>
        </p:nvSpPr>
        <p:spPr>
          <a:xfrm>
            <a:off x="6199632" y="2286000"/>
            <a:ext cx="1783080" cy="411480"/>
          </a:xfrm>
          <a:prstGeom prst="rect">
            <a:avLst/>
          </a:prstGeom>
          <a:noFill/>
          <a:ln/>
        </p:spPr>
        <p:txBody>
          <a:bodyPr wrap="square" lIns="0" tIns="0" rIns="0" bIns="0" rtlCol="0" anchor="ctr"/>
          <a:lstStyle/>
          <a:p>
            <a:pPr algn="ctr" indent="0" marL="0">
              <a:buNone/>
            </a:pPr>
            <a:r>
              <a:rPr lang="en-US" sz="1800" b="1" dirty="0">
                <a:solidFill>
                  <a:schemeClr val="tx1"/>
                </a:solidFill>
              </a:rPr>
              <a:t>Features</a:t>
            </a:r>
            <a:endParaRPr lang="en-US" sz="1800" dirty="0"/>
          </a:p>
        </p:txBody>
      </p:sp>
      <p:sp>
        <p:nvSpPr>
          <p:cNvPr id="21" name="Text 15"/>
          <p:cNvSpPr txBox="1"/>
          <p:nvPr/>
        </p:nvSpPr>
        <p:spPr>
          <a:xfrm>
            <a:off x="6199632" y="2724912"/>
            <a:ext cx="1783080" cy="914400"/>
          </a:xfrm>
          <a:prstGeom prst="rect">
            <a:avLst/>
          </a:prstGeom>
          <a:noFill/>
          <a:ln/>
        </p:spPr>
        <p:txBody>
          <a:bodyPr wrap="square" lIns="0" tIns="0" rIns="0" bIns="0" rtlCol="0" anchor="t"/>
          <a:lstStyle/>
          <a:p>
            <a:pPr algn="ctr" indent="0" marL="0">
              <a:buNone/>
            </a:pPr>
            <a:r>
              <a:rPr lang="en-US" sz="1400" dirty="0">
                <a:solidFill>
                  <a:schemeClr val="tx2"/>
                </a:solidFill>
              </a:rPr>
              <a:t>49 inputs per</a:t>
            </a:r>
            <a:endParaRPr lang="en-US" sz="1400" dirty="0"/>
          </a:p>
          <a:p>
            <a:pPr algn="ctr" indent="0" marL="0">
              <a:buNone/>
            </a:pPr>
            <a:r>
              <a:rPr lang="en-US" sz="1400" dirty="0">
                <a:solidFill>
                  <a:schemeClr val="tx2"/>
                </a:solidFill>
              </a:rPr>
              <a:t>(issue time, lead time)</a:t>
            </a:r>
            <a:endParaRPr lang="en-US" sz="1400" dirty="0"/>
          </a:p>
        </p:txBody>
      </p:sp>
      <p:sp>
        <p:nvSpPr>
          <p:cNvPr id="22" name="arrow 4"/>
          <p:cNvSpPr/>
          <p:nvPr/>
        </p:nvSpPr>
        <p:spPr>
          <a:xfrm>
            <a:off x="7680960" y="1627632"/>
            <a:ext cx="384048" cy="274320"/>
          </a:xfrm>
          <a:prstGeom prst="rightArrow">
            <a:avLst/>
          </a:prstGeom>
          <a:solidFill>
            <a:srgbClr val="C9D4E3"/>
          </a:solidFill>
          <a:ln w="12700">
            <a:solidFill>
              <a:srgbClr val="C9D4E3"/>
            </a:solidFill>
            <a:prstDash val="solid"/>
          </a:ln>
        </p:spPr>
      </p:sp>
      <p:sp>
        <p:nvSpPr>
          <p:cNvPr id="23" name="step 5 icon circle"/>
          <p:cNvSpPr/>
          <p:nvPr/>
        </p:nvSpPr>
        <p:spPr>
          <a:xfrm>
            <a:off x="8540496" y="1325880"/>
            <a:ext cx="868680" cy="868680"/>
          </a:xfrm>
          <a:prstGeom prst="ellipse">
            <a:avLst/>
          </a:prstGeom>
          <a:solidFill>
            <a:srgbClr val="F08A24"/>
          </a:solidFill>
          <a:ln w="12700">
            <a:solidFill>
              <a:srgbClr val="F08A24"/>
            </a:solidFill>
            <a:prstDash val="solid"/>
          </a:ln>
        </p:spPr>
      </p:sp>
      <p:pic>
        <p:nvPicPr>
          <p:cNvPr id="24" name="step 5 icon" descr="preencoded.png">    </p:cNvPr>
          <p:cNvPicPr>
            <a:picLocks noChangeAspect="1"/>
          </p:cNvPicPr>
          <p:nvPr/>
        </p:nvPicPr>
        <p:blipFill>
          <a:blip r:embed="rId5"/>
          <a:stretch>
            <a:fillRect/>
          </a:stretch>
        </p:blipFill>
        <p:spPr>
          <a:xfrm>
            <a:off x="8748979" y="1534363"/>
            <a:ext cx="451714" cy="451714"/>
          </a:xfrm>
          <a:prstGeom prst="rect">
            <a:avLst/>
          </a:prstGeom>
        </p:spPr>
      </p:pic>
      <p:sp>
        <p:nvSpPr>
          <p:cNvPr id="25" name="Text 18"/>
          <p:cNvSpPr txBox="1"/>
          <p:nvPr/>
        </p:nvSpPr>
        <p:spPr>
          <a:xfrm>
            <a:off x="8083296" y="2286000"/>
            <a:ext cx="1783080" cy="411480"/>
          </a:xfrm>
          <a:prstGeom prst="rect">
            <a:avLst/>
          </a:prstGeom>
          <a:noFill/>
          <a:ln/>
        </p:spPr>
        <p:txBody>
          <a:bodyPr wrap="square" lIns="0" tIns="0" rIns="0" bIns="0" rtlCol="0" anchor="ctr"/>
          <a:lstStyle/>
          <a:p>
            <a:pPr algn="ctr" indent="0" marL="0">
              <a:buNone/>
            </a:pPr>
            <a:r>
              <a:rPr lang="en-US" sz="1800" b="1" dirty="0">
                <a:solidFill>
                  <a:schemeClr val="tx1"/>
                </a:solidFill>
              </a:rPr>
              <a:t>Model</a:t>
            </a:r>
            <a:endParaRPr lang="en-US" sz="1800" dirty="0"/>
          </a:p>
        </p:txBody>
      </p:sp>
      <p:sp>
        <p:nvSpPr>
          <p:cNvPr id="26" name="Text 19"/>
          <p:cNvSpPr txBox="1"/>
          <p:nvPr/>
        </p:nvSpPr>
        <p:spPr>
          <a:xfrm>
            <a:off x="8083296" y="2724912"/>
            <a:ext cx="1783080" cy="914400"/>
          </a:xfrm>
          <a:prstGeom prst="rect">
            <a:avLst/>
          </a:prstGeom>
          <a:noFill/>
          <a:ln/>
        </p:spPr>
        <p:txBody>
          <a:bodyPr wrap="square" lIns="0" tIns="0" rIns="0" bIns="0" rtlCol="0" anchor="t"/>
          <a:lstStyle/>
          <a:p>
            <a:pPr algn="ctr" indent="0" marL="0">
              <a:buNone/>
            </a:pPr>
            <a:r>
              <a:rPr lang="en-US" sz="1400" dirty="0">
                <a:solidFill>
                  <a:schemeClr val="tx2"/>
                </a:solidFill>
              </a:rPr>
              <a:t>3 quantile GBDTs</a:t>
            </a:r>
            <a:endParaRPr lang="en-US" sz="1400" dirty="0"/>
          </a:p>
          <a:p>
            <a:pPr algn="ctr" indent="0" marL="0">
              <a:buNone/>
            </a:pPr>
            <a:r>
              <a:rPr lang="en-US" sz="1400" dirty="0">
                <a:solidFill>
                  <a:schemeClr val="tx2"/>
                </a:solidFill>
              </a:rPr>
              <a:t>blend + calibrate</a:t>
            </a:r>
            <a:endParaRPr lang="en-US" sz="1400" dirty="0"/>
          </a:p>
        </p:txBody>
      </p:sp>
      <p:sp>
        <p:nvSpPr>
          <p:cNvPr id="27" name="arrow 5"/>
          <p:cNvSpPr/>
          <p:nvPr/>
        </p:nvSpPr>
        <p:spPr>
          <a:xfrm>
            <a:off x="9564624" y="1627632"/>
            <a:ext cx="384048" cy="274320"/>
          </a:xfrm>
          <a:prstGeom prst="rightArrow">
            <a:avLst/>
          </a:prstGeom>
          <a:solidFill>
            <a:srgbClr val="C9D4E3"/>
          </a:solidFill>
          <a:ln w="12700">
            <a:solidFill>
              <a:srgbClr val="C9D4E3"/>
            </a:solidFill>
            <a:prstDash val="solid"/>
          </a:ln>
        </p:spPr>
      </p:sp>
      <p:sp>
        <p:nvSpPr>
          <p:cNvPr id="28" name="step 6 icon circle"/>
          <p:cNvSpPr/>
          <p:nvPr/>
        </p:nvSpPr>
        <p:spPr>
          <a:xfrm>
            <a:off x="10424160" y="1325880"/>
            <a:ext cx="868680" cy="868680"/>
          </a:xfrm>
          <a:prstGeom prst="ellipse">
            <a:avLst/>
          </a:prstGeom>
          <a:solidFill>
            <a:srgbClr val="2F6FDE"/>
          </a:solidFill>
          <a:ln w="12700">
            <a:solidFill>
              <a:srgbClr val="2F6FDE"/>
            </a:solidFill>
            <a:prstDash val="solid"/>
          </a:ln>
        </p:spPr>
      </p:sp>
      <p:pic>
        <p:nvPicPr>
          <p:cNvPr id="29" name="step 6 icon" descr="preencoded.png">    </p:cNvPr>
          <p:cNvPicPr>
            <a:picLocks noChangeAspect="1"/>
          </p:cNvPicPr>
          <p:nvPr/>
        </p:nvPicPr>
        <p:blipFill>
          <a:blip r:embed="rId6"/>
          <a:stretch>
            <a:fillRect/>
          </a:stretch>
        </p:blipFill>
        <p:spPr>
          <a:xfrm>
            <a:off x="10632643" y="1534363"/>
            <a:ext cx="451714" cy="451714"/>
          </a:xfrm>
          <a:prstGeom prst="rect">
            <a:avLst/>
          </a:prstGeom>
        </p:spPr>
      </p:pic>
      <p:sp>
        <p:nvSpPr>
          <p:cNvPr id="30" name="Text 22"/>
          <p:cNvSpPr txBox="1"/>
          <p:nvPr/>
        </p:nvSpPr>
        <p:spPr>
          <a:xfrm>
            <a:off x="9966960" y="2286000"/>
            <a:ext cx="1783080" cy="411480"/>
          </a:xfrm>
          <a:prstGeom prst="rect">
            <a:avLst/>
          </a:prstGeom>
          <a:noFill/>
          <a:ln/>
        </p:spPr>
        <p:txBody>
          <a:bodyPr wrap="square" lIns="0" tIns="0" rIns="0" bIns="0" rtlCol="0" anchor="ctr"/>
          <a:lstStyle/>
          <a:p>
            <a:pPr algn="ctr" indent="0" marL="0">
              <a:buNone/>
            </a:pPr>
            <a:r>
              <a:rPr lang="en-US" sz="1800" b="1" dirty="0">
                <a:solidFill>
                  <a:schemeClr val="tx1"/>
                </a:solidFill>
              </a:rPr>
              <a:t>Dashboard</a:t>
            </a:r>
            <a:endParaRPr lang="en-US" sz="1800" dirty="0"/>
          </a:p>
        </p:txBody>
      </p:sp>
      <p:sp>
        <p:nvSpPr>
          <p:cNvPr id="31" name="Text 23"/>
          <p:cNvSpPr txBox="1"/>
          <p:nvPr/>
        </p:nvSpPr>
        <p:spPr>
          <a:xfrm>
            <a:off x="9966960" y="2724912"/>
            <a:ext cx="1783080" cy="914400"/>
          </a:xfrm>
          <a:prstGeom prst="rect">
            <a:avLst/>
          </a:prstGeom>
          <a:noFill/>
          <a:ln/>
        </p:spPr>
        <p:txBody>
          <a:bodyPr wrap="square" lIns="0" tIns="0" rIns="0" bIns="0" rtlCol="0" anchor="t"/>
          <a:lstStyle/>
          <a:p>
            <a:pPr algn="ctr" indent="0" marL="0">
              <a:buNone/>
            </a:pPr>
            <a:r>
              <a:rPr lang="en-US" sz="1400" dirty="0">
                <a:solidFill>
                  <a:schemeClr val="tx2"/>
                </a:solidFill>
              </a:rPr>
              <a:t>Warnings, charts,</a:t>
            </a:r>
            <a:endParaRPr lang="en-US" sz="1400" dirty="0"/>
          </a:p>
          <a:p>
            <a:pPr algn="ctr" indent="0" marL="0">
              <a:buNone/>
            </a:pPr>
            <a:r>
              <a:rPr lang="en-US" sz="1400" dirty="0">
                <a:solidFill>
                  <a:schemeClr val="tx2"/>
                </a:solidFill>
              </a:rPr>
              <a:t>explanations</a:t>
            </a:r>
            <a:endParaRPr lang="en-US" sz="1400" dirty="0"/>
          </a:p>
        </p:txBody>
      </p:sp>
      <p:sp>
        <p:nvSpPr>
          <p:cNvPr id="32" name="stat card 1"/>
          <p:cNvSpPr/>
          <p:nvPr/>
        </p:nvSpPr>
        <p:spPr>
          <a:xfrm>
            <a:off x="548640" y="3931920"/>
            <a:ext cx="2606040" cy="2148840"/>
          </a:xfrm>
          <a:prstGeom prst="roundRect">
            <a:avLst>
              <a:gd name="adj" fmla="val 5106"/>
            </a:avLst>
          </a:prstGeom>
          <a:solidFill>
            <a:schemeClr val="bg2"/>
          </a:solidFill>
          <a:ln w="12700">
            <a:solidFill>
              <a:schemeClr val="bg2"/>
            </a:solidFill>
            <a:prstDash val="solid"/>
          </a:ln>
        </p:spPr>
      </p:sp>
      <p:sp>
        <p:nvSpPr>
          <p:cNvPr id="33" name="Text 25"/>
          <p:cNvSpPr txBox="1"/>
          <p:nvPr/>
        </p:nvSpPr>
        <p:spPr>
          <a:xfrm>
            <a:off x="777240" y="4069080"/>
            <a:ext cx="2240280" cy="685800"/>
          </a:xfrm>
          <a:prstGeom prst="rect">
            <a:avLst/>
          </a:prstGeom>
          <a:noFill/>
          <a:ln/>
        </p:spPr>
        <p:txBody>
          <a:bodyPr wrap="square" lIns="0" tIns="0" rIns="0" bIns="0" rtlCol="0" anchor="ctr"/>
          <a:lstStyle/>
          <a:p>
            <a:pPr indent="0" marL="0">
              <a:buNone/>
            </a:pPr>
            <a:r>
              <a:rPr lang="en-US" sz="3400" b="1" dirty="0">
                <a:solidFill>
                  <a:schemeClr val="tx1"/>
                </a:solidFill>
              </a:rPr>
              <a:t>12,908</a:t>
            </a:r>
            <a:endParaRPr lang="en-US" sz="3400" dirty="0"/>
          </a:p>
        </p:txBody>
      </p:sp>
      <p:sp>
        <p:nvSpPr>
          <p:cNvPr id="34" name="Text 26"/>
          <p:cNvSpPr txBox="1"/>
          <p:nvPr/>
        </p:nvSpPr>
        <p:spPr>
          <a:xfrm>
            <a:off x="777240" y="4800600"/>
            <a:ext cx="2240280" cy="1188720"/>
          </a:xfrm>
          <a:prstGeom prst="rect">
            <a:avLst/>
          </a:prstGeom>
          <a:noFill/>
          <a:ln/>
        </p:spPr>
        <p:txBody>
          <a:bodyPr wrap="square" lIns="0" tIns="0" rIns="0" bIns="0" rtlCol="0" anchor="t"/>
          <a:lstStyle/>
          <a:p>
            <a:pPr indent="0" marL="0">
              <a:buNone/>
            </a:pPr>
            <a:r>
              <a:rPr lang="en-US" sz="1400" dirty="0">
                <a:solidFill>
                  <a:schemeClr val="tx2"/>
                </a:solidFill>
              </a:rPr>
              <a:t>hourly readings downloaded (Feb 2025 – Oct 2026)</a:t>
            </a:r>
            <a:endParaRPr lang="en-US" sz="1400" dirty="0"/>
          </a:p>
        </p:txBody>
      </p:sp>
      <p:sp>
        <p:nvSpPr>
          <p:cNvPr id="35" name="stat card 2"/>
          <p:cNvSpPr/>
          <p:nvPr/>
        </p:nvSpPr>
        <p:spPr>
          <a:xfrm>
            <a:off x="3337560" y="3931920"/>
            <a:ext cx="2606040" cy="2148840"/>
          </a:xfrm>
          <a:prstGeom prst="roundRect">
            <a:avLst>
              <a:gd name="adj" fmla="val 5106"/>
            </a:avLst>
          </a:prstGeom>
          <a:solidFill>
            <a:schemeClr val="bg2"/>
          </a:solidFill>
          <a:ln w="12700">
            <a:solidFill>
              <a:schemeClr val="bg2"/>
            </a:solidFill>
            <a:prstDash val="solid"/>
          </a:ln>
        </p:spPr>
      </p:sp>
      <p:sp>
        <p:nvSpPr>
          <p:cNvPr id="36" name="Text 28"/>
          <p:cNvSpPr txBox="1"/>
          <p:nvPr/>
        </p:nvSpPr>
        <p:spPr>
          <a:xfrm>
            <a:off x="3566160" y="4069080"/>
            <a:ext cx="2240280" cy="685800"/>
          </a:xfrm>
          <a:prstGeom prst="rect">
            <a:avLst/>
          </a:prstGeom>
          <a:noFill/>
          <a:ln/>
        </p:spPr>
        <p:txBody>
          <a:bodyPr wrap="square" lIns="0" tIns="0" rIns="0" bIns="0" rtlCol="0" anchor="ctr"/>
          <a:lstStyle/>
          <a:p>
            <a:pPr indent="0" marL="0">
              <a:buNone/>
            </a:pPr>
            <a:r>
              <a:rPr lang="en-US" sz="3400" b="1" dirty="0">
                <a:solidFill>
                  <a:schemeClr val="accent5"/>
                </a:solidFill>
              </a:rPr>
              <a:t>250</a:t>
            </a:r>
            <a:endParaRPr lang="en-US" sz="3400" dirty="0"/>
          </a:p>
        </p:txBody>
      </p:sp>
      <p:sp>
        <p:nvSpPr>
          <p:cNvPr id="37" name="Text 29"/>
          <p:cNvSpPr txBox="1"/>
          <p:nvPr/>
        </p:nvSpPr>
        <p:spPr>
          <a:xfrm>
            <a:off x="3566160" y="4800600"/>
            <a:ext cx="2240280" cy="1188720"/>
          </a:xfrm>
          <a:prstGeom prst="rect">
            <a:avLst/>
          </a:prstGeom>
          <a:noFill/>
          <a:ln/>
        </p:spPr>
        <p:txBody>
          <a:bodyPr wrap="square" lIns="0" tIns="0" rIns="0" bIns="0" rtlCol="0" anchor="t"/>
          <a:lstStyle/>
          <a:p>
            <a:pPr indent="0" marL="0">
              <a:buNone/>
            </a:pPr>
            <a:r>
              <a:rPr lang="en-US" sz="1400" dirty="0">
                <a:solidFill>
                  <a:schemeClr val="tx2"/>
                </a:solidFill>
              </a:rPr>
              <a:t>bad readings removed: out of range, low coverage, stuck sensor, spikes</a:t>
            </a:r>
            <a:endParaRPr lang="en-US" sz="1400" dirty="0"/>
          </a:p>
        </p:txBody>
      </p:sp>
      <p:sp>
        <p:nvSpPr>
          <p:cNvPr id="38" name="stat card 3"/>
          <p:cNvSpPr/>
          <p:nvPr/>
        </p:nvSpPr>
        <p:spPr>
          <a:xfrm>
            <a:off x="6126480" y="3931920"/>
            <a:ext cx="2606040" cy="2148840"/>
          </a:xfrm>
          <a:prstGeom prst="roundRect">
            <a:avLst>
              <a:gd name="adj" fmla="val 5106"/>
            </a:avLst>
          </a:prstGeom>
          <a:solidFill>
            <a:schemeClr val="bg2"/>
          </a:solidFill>
          <a:ln w="12700">
            <a:solidFill>
              <a:schemeClr val="bg2"/>
            </a:solidFill>
            <a:prstDash val="solid"/>
          </a:ln>
        </p:spPr>
      </p:sp>
      <p:sp>
        <p:nvSpPr>
          <p:cNvPr id="39" name="Text 31"/>
          <p:cNvSpPr txBox="1"/>
          <p:nvPr/>
        </p:nvSpPr>
        <p:spPr>
          <a:xfrm>
            <a:off x="6355080" y="4069080"/>
            <a:ext cx="2240280" cy="685800"/>
          </a:xfrm>
          <a:prstGeom prst="rect">
            <a:avLst/>
          </a:prstGeom>
          <a:noFill/>
          <a:ln/>
        </p:spPr>
        <p:txBody>
          <a:bodyPr wrap="square" lIns="0" tIns="0" rIns="0" bIns="0" rtlCol="0" anchor="ctr"/>
          <a:lstStyle/>
          <a:p>
            <a:pPr indent="0" marL="0">
              <a:buNone/>
            </a:pPr>
            <a:r>
              <a:rPr lang="en-US" sz="3400" b="1" dirty="0">
                <a:solidFill>
                  <a:schemeClr val="accent3"/>
                </a:solidFill>
              </a:rPr>
              <a:t>92.4 %</a:t>
            </a:r>
            <a:endParaRPr lang="en-US" sz="3400" dirty="0"/>
          </a:p>
        </p:txBody>
      </p:sp>
      <p:sp>
        <p:nvSpPr>
          <p:cNvPr id="40" name="Text 32"/>
          <p:cNvSpPr txBox="1"/>
          <p:nvPr/>
        </p:nvSpPr>
        <p:spPr>
          <a:xfrm>
            <a:off x="6355080" y="4800600"/>
            <a:ext cx="2240280" cy="1188720"/>
          </a:xfrm>
          <a:prstGeom prst="rect">
            <a:avLst/>
          </a:prstGeom>
          <a:noFill/>
          <a:ln/>
        </p:spPr>
        <p:txBody>
          <a:bodyPr wrap="square" lIns="0" tIns="0" rIns="0" bIns="0" rtlCol="0" anchor="t"/>
          <a:lstStyle/>
          <a:p>
            <a:pPr indent="0" marL="0">
              <a:buNone/>
            </a:pPr>
            <a:r>
              <a:rPr lang="en-US" sz="1400" dirty="0">
                <a:solidFill>
                  <a:schemeClr val="tx2"/>
                </a:solidFill>
              </a:rPr>
              <a:t>of hours usable after cleaning; only gaps ≤ 3 h are interpolated</a:t>
            </a:r>
            <a:endParaRPr lang="en-US" sz="1400" dirty="0"/>
          </a:p>
        </p:txBody>
      </p:sp>
      <p:sp>
        <p:nvSpPr>
          <p:cNvPr id="41" name="stat card 4"/>
          <p:cNvSpPr/>
          <p:nvPr/>
        </p:nvSpPr>
        <p:spPr>
          <a:xfrm>
            <a:off x="8915400" y="3931920"/>
            <a:ext cx="2606040" cy="2148840"/>
          </a:xfrm>
          <a:prstGeom prst="roundRect">
            <a:avLst>
              <a:gd name="adj" fmla="val 5106"/>
            </a:avLst>
          </a:prstGeom>
          <a:solidFill>
            <a:schemeClr val="bg2"/>
          </a:solidFill>
          <a:ln w="12700">
            <a:solidFill>
              <a:schemeClr val="bg2"/>
            </a:solidFill>
            <a:prstDash val="solid"/>
          </a:ln>
        </p:spPr>
      </p:sp>
      <p:sp>
        <p:nvSpPr>
          <p:cNvPr id="42" name="Text 34"/>
          <p:cNvSpPr txBox="1"/>
          <p:nvPr/>
        </p:nvSpPr>
        <p:spPr>
          <a:xfrm>
            <a:off x="9144000" y="4069080"/>
            <a:ext cx="2240280" cy="685800"/>
          </a:xfrm>
          <a:prstGeom prst="rect">
            <a:avLst/>
          </a:prstGeom>
          <a:noFill/>
          <a:ln/>
        </p:spPr>
        <p:txBody>
          <a:bodyPr wrap="square" lIns="0" tIns="0" rIns="0" bIns="0" rtlCol="0" anchor="ctr"/>
          <a:lstStyle/>
          <a:p>
            <a:pPr indent="0" marL="0">
              <a:buNone/>
            </a:pPr>
            <a:r>
              <a:rPr lang="en-US" sz="3400" b="1" dirty="0">
                <a:solidFill>
                  <a:schemeClr val="accent2"/>
                </a:solidFill>
              </a:rPr>
              <a:t>6 h – 14 d</a:t>
            </a:r>
            <a:endParaRPr lang="en-US" sz="3400" dirty="0"/>
          </a:p>
        </p:txBody>
      </p:sp>
      <p:sp>
        <p:nvSpPr>
          <p:cNvPr id="43" name="Text 35"/>
          <p:cNvSpPr txBox="1"/>
          <p:nvPr/>
        </p:nvSpPr>
        <p:spPr>
          <a:xfrm>
            <a:off x="9144000" y="4800600"/>
            <a:ext cx="2240280" cy="1188720"/>
          </a:xfrm>
          <a:prstGeom prst="rect">
            <a:avLst/>
          </a:prstGeom>
          <a:noFill/>
          <a:ln/>
        </p:spPr>
        <p:txBody>
          <a:bodyPr wrap="square" lIns="0" tIns="0" rIns="0" bIns="0" rtlCol="0" anchor="t"/>
          <a:lstStyle/>
          <a:p>
            <a:pPr indent="0" marL="0">
              <a:buNone/>
            </a:pPr>
            <a:r>
              <a:rPr lang="en-US" sz="1400" dirty="0">
                <a:solidFill>
                  <a:schemeClr val="tx2"/>
                </a:solidFill>
              </a:rPr>
              <a:t>outages bridged with CAMS scaled to the station; flagged, never trained 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Weather decides how much air the pollution mixes into</a:t>
            </a:r>
            <a:endParaRPr lang="en-US" sz="3200" dirty="0"/>
          </a:p>
        </p:txBody>
      </p:sp>
      <p:graphicFrame>
        <p:nvGraphicFramePr>
          <p:cNvPr id="3" name="daily cycle chart" descr=""/>
          <p:cNvGraphicFramePr/>
          <p:nvPr/>
        </p:nvGraphicFramePr>
        <p:xfrm>
          <a:off x="548640" y="128016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4" name="physics icon 1 circle"/>
          <p:cNvSpPr/>
          <p:nvPr/>
        </p:nvSpPr>
        <p:spPr>
          <a:xfrm>
            <a:off x="7315200" y="1371600"/>
            <a:ext cx="640080" cy="640080"/>
          </a:xfrm>
          <a:prstGeom prst="ellipse">
            <a:avLst/>
          </a:prstGeom>
          <a:solidFill>
            <a:srgbClr val="F2C230"/>
          </a:solidFill>
          <a:ln w="12700">
            <a:solidFill>
              <a:srgbClr val="F2C230"/>
            </a:solidFill>
            <a:prstDash val="solid"/>
          </a:ln>
        </p:spPr>
      </p:sp>
      <p:pic>
        <p:nvPicPr>
          <p:cNvPr id="5" name="physics icon 1" descr="preencoded.png">    </p:cNvPr>
          <p:cNvPicPr>
            <a:picLocks noChangeAspect="1"/>
          </p:cNvPicPr>
          <p:nvPr/>
        </p:nvPicPr>
        <p:blipFill>
          <a:blip r:embed="rId2"/>
          <a:stretch>
            <a:fillRect/>
          </a:stretch>
        </p:blipFill>
        <p:spPr>
          <a:xfrm>
            <a:off x="7468819" y="1525219"/>
            <a:ext cx="332842" cy="332842"/>
          </a:xfrm>
          <a:prstGeom prst="rect">
            <a:avLst/>
          </a:prstGeom>
        </p:spPr>
      </p:pic>
      <p:sp>
        <p:nvSpPr>
          <p:cNvPr id="6" name="Text 2"/>
          <p:cNvSpPr txBox="1"/>
          <p:nvPr/>
        </p:nvSpPr>
        <p:spPr>
          <a:xfrm>
            <a:off x="8138160" y="1371600"/>
            <a:ext cx="3566160" cy="365760"/>
          </a:xfrm>
          <a:prstGeom prst="rect">
            <a:avLst/>
          </a:prstGeom>
          <a:noFill/>
          <a:ln/>
        </p:spPr>
        <p:txBody>
          <a:bodyPr wrap="square" lIns="0" tIns="0" rIns="0" bIns="0" rtlCol="0" anchor="ctr"/>
          <a:lstStyle/>
          <a:p>
            <a:pPr indent="0" marL="0">
              <a:buNone/>
            </a:pPr>
            <a:r>
              <a:rPr lang="en-US" sz="1700" b="1" dirty="0">
                <a:solidFill>
                  <a:schemeClr val="tx1"/>
                </a:solidFill>
              </a:rPr>
              <a:t>Day: deep mixing</a:t>
            </a:r>
            <a:endParaRPr lang="en-US" sz="1700" dirty="0"/>
          </a:p>
        </p:txBody>
      </p:sp>
      <p:sp>
        <p:nvSpPr>
          <p:cNvPr id="7" name="Text 3"/>
          <p:cNvSpPr txBox="1"/>
          <p:nvPr/>
        </p:nvSpPr>
        <p:spPr>
          <a:xfrm>
            <a:off x="8138160" y="1737360"/>
            <a:ext cx="3566160" cy="777240"/>
          </a:xfrm>
          <a:prstGeom prst="rect">
            <a:avLst/>
          </a:prstGeom>
          <a:noFill/>
          <a:ln/>
        </p:spPr>
        <p:txBody>
          <a:bodyPr wrap="square" lIns="0" tIns="0" rIns="0" bIns="0" rtlCol="0" anchor="t"/>
          <a:lstStyle/>
          <a:p>
            <a:pPr indent="0" marL="0">
              <a:buNone/>
            </a:pPr>
            <a:r>
              <a:rPr lang="en-US" sz="1400" dirty="0">
                <a:solidFill>
                  <a:schemeClr val="tx2"/>
                </a:solidFill>
              </a:rPr>
              <a:t>Sunshine stirs the lowest 1–3 km of air; pollution is diluted (lowest at 13:00–17:00)</a:t>
            </a:r>
            <a:endParaRPr lang="en-US" sz="1400" dirty="0"/>
          </a:p>
        </p:txBody>
      </p:sp>
      <p:sp>
        <p:nvSpPr>
          <p:cNvPr id="8" name="physics icon 2 circle"/>
          <p:cNvSpPr/>
          <p:nvPr/>
        </p:nvSpPr>
        <p:spPr>
          <a:xfrm>
            <a:off x="7315200" y="2560320"/>
            <a:ext cx="640080" cy="640080"/>
          </a:xfrm>
          <a:prstGeom prst="ellipse">
            <a:avLst/>
          </a:prstGeom>
          <a:solidFill>
            <a:srgbClr val="3A4A63"/>
          </a:solidFill>
          <a:ln w="12700">
            <a:solidFill>
              <a:srgbClr val="3A4A63"/>
            </a:solidFill>
            <a:prstDash val="solid"/>
          </a:ln>
        </p:spPr>
      </p:sp>
      <p:pic>
        <p:nvPicPr>
          <p:cNvPr id="9" name="physics icon 2" descr="preencoded.png">    </p:cNvPr>
          <p:cNvPicPr>
            <a:picLocks noChangeAspect="1"/>
          </p:cNvPicPr>
          <p:nvPr/>
        </p:nvPicPr>
        <p:blipFill>
          <a:blip r:embed="rId3"/>
          <a:stretch>
            <a:fillRect/>
          </a:stretch>
        </p:blipFill>
        <p:spPr>
          <a:xfrm>
            <a:off x="7468819" y="2713939"/>
            <a:ext cx="332842" cy="332842"/>
          </a:xfrm>
          <a:prstGeom prst="rect">
            <a:avLst/>
          </a:prstGeom>
        </p:spPr>
      </p:pic>
      <p:sp>
        <p:nvSpPr>
          <p:cNvPr id="10" name="Text 5"/>
          <p:cNvSpPr txBox="1"/>
          <p:nvPr/>
        </p:nvSpPr>
        <p:spPr>
          <a:xfrm>
            <a:off x="8138160" y="2560320"/>
            <a:ext cx="3566160" cy="365760"/>
          </a:xfrm>
          <a:prstGeom prst="rect">
            <a:avLst/>
          </a:prstGeom>
          <a:noFill/>
          <a:ln/>
        </p:spPr>
        <p:txBody>
          <a:bodyPr wrap="square" lIns="0" tIns="0" rIns="0" bIns="0" rtlCol="0" anchor="ctr"/>
          <a:lstStyle/>
          <a:p>
            <a:pPr indent="0" marL="0">
              <a:buNone/>
            </a:pPr>
            <a:r>
              <a:rPr lang="en-US" sz="1700" b="1" dirty="0">
                <a:solidFill>
                  <a:schemeClr val="tx1"/>
                </a:solidFill>
              </a:rPr>
              <a:t>Night: shallow lid</a:t>
            </a:r>
            <a:endParaRPr lang="en-US" sz="1700" dirty="0"/>
          </a:p>
        </p:txBody>
      </p:sp>
      <p:sp>
        <p:nvSpPr>
          <p:cNvPr id="11" name="Text 6"/>
          <p:cNvSpPr txBox="1"/>
          <p:nvPr/>
        </p:nvSpPr>
        <p:spPr>
          <a:xfrm>
            <a:off x="8138160" y="2926080"/>
            <a:ext cx="3566160" cy="777240"/>
          </a:xfrm>
          <a:prstGeom prst="rect">
            <a:avLst/>
          </a:prstGeom>
          <a:noFill/>
          <a:ln/>
        </p:spPr>
        <p:txBody>
          <a:bodyPr wrap="square" lIns="0" tIns="0" rIns="0" bIns="0" rtlCol="0" anchor="t"/>
          <a:lstStyle/>
          <a:p>
            <a:pPr indent="0" marL="0">
              <a:buNone/>
            </a:pPr>
            <a:r>
              <a:rPr lang="en-US" sz="1400" dirty="0">
                <a:solidFill>
                  <a:schemeClr val="tx2"/>
                </a:solidFill>
              </a:rPr>
              <a:t>The mixed layer collapses to 100–300 m, trapping emissions; PM2.5 rises after sunset</a:t>
            </a:r>
            <a:endParaRPr lang="en-US" sz="1400" dirty="0"/>
          </a:p>
        </p:txBody>
      </p:sp>
      <p:sp>
        <p:nvSpPr>
          <p:cNvPr id="12" name="physics icon 3 circle"/>
          <p:cNvSpPr/>
          <p:nvPr/>
        </p:nvSpPr>
        <p:spPr>
          <a:xfrm>
            <a:off x="7315200" y="3749040"/>
            <a:ext cx="640080" cy="640080"/>
          </a:xfrm>
          <a:prstGeom prst="ellipse">
            <a:avLst/>
          </a:prstGeom>
          <a:solidFill>
            <a:srgbClr val="2F6FDE"/>
          </a:solidFill>
          <a:ln w="12700">
            <a:solidFill>
              <a:srgbClr val="2F6FDE"/>
            </a:solidFill>
            <a:prstDash val="solid"/>
          </a:ln>
        </p:spPr>
      </p:sp>
      <p:pic>
        <p:nvPicPr>
          <p:cNvPr id="13" name="physics icon 3" descr="preencoded.png">    </p:cNvPr>
          <p:cNvPicPr>
            <a:picLocks noChangeAspect="1"/>
          </p:cNvPicPr>
          <p:nvPr/>
        </p:nvPicPr>
        <p:blipFill>
          <a:blip r:embed="rId4"/>
          <a:stretch>
            <a:fillRect/>
          </a:stretch>
        </p:blipFill>
        <p:spPr>
          <a:xfrm>
            <a:off x="7468819" y="3902659"/>
            <a:ext cx="332842" cy="332842"/>
          </a:xfrm>
          <a:prstGeom prst="rect">
            <a:avLst/>
          </a:prstGeom>
        </p:spPr>
      </p:pic>
      <p:sp>
        <p:nvSpPr>
          <p:cNvPr id="14" name="Text 8"/>
          <p:cNvSpPr txBox="1"/>
          <p:nvPr/>
        </p:nvSpPr>
        <p:spPr>
          <a:xfrm>
            <a:off x="8138160" y="3749040"/>
            <a:ext cx="3566160" cy="365760"/>
          </a:xfrm>
          <a:prstGeom prst="rect">
            <a:avLst/>
          </a:prstGeom>
          <a:noFill/>
          <a:ln/>
        </p:spPr>
        <p:txBody>
          <a:bodyPr wrap="square" lIns="0" tIns="0" rIns="0" bIns="0" rtlCol="0" anchor="ctr"/>
          <a:lstStyle/>
          <a:p>
            <a:pPr indent="0" marL="0">
              <a:buNone/>
            </a:pPr>
            <a:r>
              <a:rPr lang="en-US" sz="1700" b="1" dirty="0">
                <a:solidFill>
                  <a:schemeClr val="tx1"/>
                </a:solidFill>
              </a:rPr>
              <a:t>Ventilation index</a:t>
            </a:r>
            <a:endParaRPr lang="en-US" sz="1700" dirty="0"/>
          </a:p>
        </p:txBody>
      </p:sp>
      <p:sp>
        <p:nvSpPr>
          <p:cNvPr id="15" name="Text 9"/>
          <p:cNvSpPr txBox="1"/>
          <p:nvPr/>
        </p:nvSpPr>
        <p:spPr>
          <a:xfrm>
            <a:off x="8138160" y="4114800"/>
            <a:ext cx="3566160" cy="777240"/>
          </a:xfrm>
          <a:prstGeom prst="rect">
            <a:avLst/>
          </a:prstGeom>
          <a:noFill/>
          <a:ln/>
        </p:spPr>
        <p:txBody>
          <a:bodyPr wrap="square" lIns="0" tIns="0" rIns="0" bIns="0" rtlCol="0" anchor="t"/>
          <a:lstStyle/>
          <a:p>
            <a:pPr indent="0" marL="0">
              <a:buNone/>
            </a:pPr>
            <a:r>
              <a:rPr lang="en-US" sz="1400" dirty="0">
                <a:solidFill>
                  <a:schemeClr val="tx2"/>
                </a:solidFill>
              </a:rPr>
              <a:t>Wind speed × mixing height. Below ~2,000 m²/s the air is stagnant</a:t>
            </a:r>
            <a:endParaRPr lang="en-US" sz="1400" dirty="0"/>
          </a:p>
        </p:txBody>
      </p:sp>
      <p:sp>
        <p:nvSpPr>
          <p:cNvPr id="16" name="physics icon 4 circle"/>
          <p:cNvSpPr/>
          <p:nvPr/>
        </p:nvSpPr>
        <p:spPr>
          <a:xfrm>
            <a:off x="7315200" y="4937760"/>
            <a:ext cx="640080" cy="640080"/>
          </a:xfrm>
          <a:prstGeom prst="ellipse">
            <a:avLst/>
          </a:prstGeom>
          <a:solidFill>
            <a:srgbClr val="3FA34D"/>
          </a:solidFill>
          <a:ln w="12700">
            <a:solidFill>
              <a:srgbClr val="3FA34D"/>
            </a:solidFill>
            <a:prstDash val="solid"/>
          </a:ln>
        </p:spPr>
      </p:sp>
      <p:pic>
        <p:nvPicPr>
          <p:cNvPr id="17" name="physics icon 4" descr="preencoded.png">    </p:cNvPr>
          <p:cNvPicPr>
            <a:picLocks noChangeAspect="1"/>
          </p:cNvPicPr>
          <p:nvPr/>
        </p:nvPicPr>
        <p:blipFill>
          <a:blip r:embed="rId5"/>
          <a:stretch>
            <a:fillRect/>
          </a:stretch>
        </p:blipFill>
        <p:spPr>
          <a:xfrm>
            <a:off x="7468819" y="5091379"/>
            <a:ext cx="332842" cy="332842"/>
          </a:xfrm>
          <a:prstGeom prst="rect">
            <a:avLst/>
          </a:prstGeom>
        </p:spPr>
      </p:pic>
      <p:sp>
        <p:nvSpPr>
          <p:cNvPr id="18" name="Text 11"/>
          <p:cNvSpPr txBox="1"/>
          <p:nvPr/>
        </p:nvSpPr>
        <p:spPr>
          <a:xfrm>
            <a:off x="8138160" y="4937760"/>
            <a:ext cx="3566160" cy="365760"/>
          </a:xfrm>
          <a:prstGeom prst="rect">
            <a:avLst/>
          </a:prstGeom>
          <a:noFill/>
          <a:ln/>
        </p:spPr>
        <p:txBody>
          <a:bodyPr wrap="square" lIns="0" tIns="0" rIns="0" bIns="0" rtlCol="0" anchor="ctr"/>
          <a:lstStyle/>
          <a:p>
            <a:pPr indent="0" marL="0">
              <a:buNone/>
            </a:pPr>
            <a:r>
              <a:rPr lang="en-US" sz="1700" b="1" dirty="0">
                <a:solidFill>
                  <a:schemeClr val="tx1"/>
                </a:solidFill>
              </a:rPr>
              <a:t>Rain and wind direction</a:t>
            </a:r>
            <a:endParaRPr lang="en-US" sz="1700" dirty="0"/>
          </a:p>
        </p:txBody>
      </p:sp>
      <p:sp>
        <p:nvSpPr>
          <p:cNvPr id="19" name="Text 12"/>
          <p:cNvSpPr txBox="1"/>
          <p:nvPr/>
        </p:nvSpPr>
        <p:spPr>
          <a:xfrm>
            <a:off x="8138160" y="5303520"/>
            <a:ext cx="3566160" cy="777240"/>
          </a:xfrm>
          <a:prstGeom prst="rect">
            <a:avLst/>
          </a:prstGeom>
          <a:noFill/>
          <a:ln/>
        </p:spPr>
        <p:txBody>
          <a:bodyPr wrap="square" lIns="0" tIns="0" rIns="0" bIns="0" rtlCol="0" anchor="t"/>
          <a:lstStyle/>
          <a:p>
            <a:pPr indent="0" marL="0">
              <a:buNone/>
            </a:pPr>
            <a:r>
              <a:rPr lang="en-US" sz="1400" dirty="0">
                <a:solidFill>
                  <a:schemeClr val="tx2"/>
                </a:solidFill>
              </a:rPr>
              <a:t>Rain washes particles out; north-west winds bring polluted air down the Indo-Gangetic Plain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One model forecasts every hour from 1 to 60</a:t>
            </a:r>
            <a:endParaRPr lang="en-US" sz="3200" dirty="0"/>
          </a:p>
        </p:txBody>
      </p:sp>
      <p:sp>
        <p:nvSpPr>
          <p:cNvPr id="3" name="input 1"/>
          <p:cNvSpPr/>
          <p:nvPr/>
        </p:nvSpPr>
        <p:spPr>
          <a:xfrm>
            <a:off x="548640" y="1280160"/>
            <a:ext cx="4206240" cy="749808"/>
          </a:xfrm>
          <a:prstGeom prst="roundRect">
            <a:avLst>
              <a:gd name="adj" fmla="val 14634"/>
            </a:avLst>
          </a:prstGeom>
          <a:solidFill>
            <a:schemeClr val="bg2"/>
          </a:solidFill>
          <a:ln w="12700">
            <a:solidFill>
              <a:schemeClr val="bg2"/>
            </a:solidFill>
            <a:prstDash val="solid"/>
          </a:ln>
        </p:spPr>
      </p:sp>
      <p:sp>
        <p:nvSpPr>
          <p:cNvPr id="4" name="Text 2"/>
          <p:cNvSpPr txBox="1"/>
          <p:nvPr/>
        </p:nvSpPr>
        <p:spPr>
          <a:xfrm>
            <a:off x="731520" y="1325880"/>
            <a:ext cx="3931920" cy="658368"/>
          </a:xfrm>
          <a:prstGeom prst="rect">
            <a:avLst/>
          </a:prstGeom>
          <a:noFill/>
          <a:ln/>
        </p:spPr>
        <p:txBody>
          <a:bodyPr wrap="square" lIns="0" tIns="0" rIns="0" bIns="0" rtlCol="0" anchor="ctr"/>
          <a:lstStyle/>
          <a:p>
            <a:pPr indent="0" marL="0">
              <a:buNone/>
            </a:pPr>
            <a:r>
              <a:rPr lang="en-US" sz="1600" b="1" dirty="0">
                <a:solidFill>
                  <a:srgbClr val="1B2A41"/>
                </a:solidFill>
              </a:rPr>
              <a:t>Recent PM2.5</a:t>
            </a:r>
            <a:endParaRPr lang="en-US" sz="1600" dirty="0"/>
          </a:p>
          <a:p>
            <a:pPr indent="0" marL="0">
              <a:buNone/>
            </a:pPr>
            <a:r>
              <a:rPr lang="en-US" sz="1300" dirty="0">
                <a:solidFill>
                  <a:srgbClr val="3A4A63"/>
                </a:solidFill>
              </a:rPr>
              <a:t>lags, 3-day means, trends, relative to now</a:t>
            </a:r>
            <a:endParaRPr lang="en-US" sz="1600" dirty="0"/>
          </a:p>
        </p:txBody>
      </p:sp>
      <p:sp>
        <p:nvSpPr>
          <p:cNvPr id="5" name="input 2"/>
          <p:cNvSpPr/>
          <p:nvPr/>
        </p:nvSpPr>
        <p:spPr>
          <a:xfrm>
            <a:off x="548640" y="2130552"/>
            <a:ext cx="4206240" cy="749808"/>
          </a:xfrm>
          <a:prstGeom prst="roundRect">
            <a:avLst>
              <a:gd name="adj" fmla="val 14634"/>
            </a:avLst>
          </a:prstGeom>
          <a:solidFill>
            <a:schemeClr val="bg2"/>
          </a:solidFill>
          <a:ln w="12700">
            <a:solidFill>
              <a:schemeClr val="bg2"/>
            </a:solidFill>
            <a:prstDash val="solid"/>
          </a:ln>
        </p:spPr>
      </p:sp>
      <p:sp>
        <p:nvSpPr>
          <p:cNvPr id="6" name="Text 4"/>
          <p:cNvSpPr txBox="1"/>
          <p:nvPr/>
        </p:nvSpPr>
        <p:spPr>
          <a:xfrm>
            <a:off x="731520" y="2176272"/>
            <a:ext cx="3931920" cy="658368"/>
          </a:xfrm>
          <a:prstGeom prst="rect">
            <a:avLst/>
          </a:prstGeom>
          <a:noFill/>
          <a:ln/>
        </p:spPr>
        <p:txBody>
          <a:bodyPr wrap="square" lIns="0" tIns="0" rIns="0" bIns="0" rtlCol="0" anchor="ctr"/>
          <a:lstStyle/>
          <a:p>
            <a:pPr indent="0" marL="0">
              <a:buNone/>
            </a:pPr>
            <a:r>
              <a:rPr lang="en-US" sz="1600" b="1" dirty="0">
                <a:solidFill>
                  <a:srgbClr val="1B2A41"/>
                </a:solidFill>
              </a:rPr>
              <a:t>Forecast weather</a:t>
            </a:r>
            <a:endParaRPr lang="en-US" sz="1600" dirty="0"/>
          </a:p>
          <a:p>
            <a:pPr indent="0" marL="0">
              <a:buNone/>
            </a:pPr>
            <a:r>
              <a:rPr lang="en-US" sz="1300" dirty="0">
                <a:solidFill>
                  <a:srgbClr val="3A4A63"/>
                </a:solidFill>
              </a:rPr>
              <a:t>wind (u, v), mixing height, ventilation, rain, humidity, pressure</a:t>
            </a:r>
            <a:endParaRPr lang="en-US" sz="1600" dirty="0"/>
          </a:p>
        </p:txBody>
      </p:sp>
      <p:sp>
        <p:nvSpPr>
          <p:cNvPr id="7" name="input 3"/>
          <p:cNvSpPr/>
          <p:nvPr/>
        </p:nvSpPr>
        <p:spPr>
          <a:xfrm>
            <a:off x="548640" y="2980944"/>
            <a:ext cx="4206240" cy="749808"/>
          </a:xfrm>
          <a:prstGeom prst="roundRect">
            <a:avLst>
              <a:gd name="adj" fmla="val 14634"/>
            </a:avLst>
          </a:prstGeom>
          <a:solidFill>
            <a:schemeClr val="bg2"/>
          </a:solidFill>
          <a:ln w="12700">
            <a:solidFill>
              <a:schemeClr val="bg2"/>
            </a:solidFill>
            <a:prstDash val="solid"/>
          </a:ln>
        </p:spPr>
      </p:sp>
      <p:sp>
        <p:nvSpPr>
          <p:cNvPr id="8" name="Text 6"/>
          <p:cNvSpPr txBox="1"/>
          <p:nvPr/>
        </p:nvSpPr>
        <p:spPr>
          <a:xfrm>
            <a:off x="731520" y="3026664"/>
            <a:ext cx="3931920" cy="658368"/>
          </a:xfrm>
          <a:prstGeom prst="rect">
            <a:avLst/>
          </a:prstGeom>
          <a:noFill/>
          <a:ln/>
        </p:spPr>
        <p:txBody>
          <a:bodyPr wrap="square" lIns="0" tIns="0" rIns="0" bIns="0" rtlCol="0" anchor="ctr"/>
          <a:lstStyle/>
          <a:p>
            <a:pPr indent="0" marL="0">
              <a:buNone/>
            </a:pPr>
            <a:r>
              <a:rPr lang="en-US" sz="1600" b="1" dirty="0">
                <a:solidFill>
                  <a:srgbClr val="1B2A41"/>
                </a:solidFill>
              </a:rPr>
              <a:t>Along the way</a:t>
            </a:r>
            <a:endParaRPr lang="en-US" sz="1600" dirty="0"/>
          </a:p>
          <a:p>
            <a:pPr indent="0" marL="0">
              <a:buNone/>
            </a:pPr>
            <a:r>
              <a:rPr lang="en-US" sz="1300" dirty="0">
                <a:solidFill>
                  <a:srgbClr val="3A4A63"/>
                </a:solidFill>
              </a:rPr>
              <a:t>mean ventilation and total rain between now and the target hour</a:t>
            </a:r>
            <a:endParaRPr lang="en-US" sz="1600" dirty="0"/>
          </a:p>
        </p:txBody>
      </p:sp>
      <p:sp>
        <p:nvSpPr>
          <p:cNvPr id="9" name="input 4"/>
          <p:cNvSpPr/>
          <p:nvPr/>
        </p:nvSpPr>
        <p:spPr>
          <a:xfrm>
            <a:off x="548640" y="3831336"/>
            <a:ext cx="4206240" cy="749808"/>
          </a:xfrm>
          <a:prstGeom prst="roundRect">
            <a:avLst>
              <a:gd name="adj" fmla="val 14634"/>
            </a:avLst>
          </a:prstGeom>
          <a:solidFill>
            <a:schemeClr val="bg2"/>
          </a:solidFill>
          <a:ln w="12700">
            <a:solidFill>
              <a:schemeClr val="bg2"/>
            </a:solidFill>
            <a:prstDash val="solid"/>
          </a:ln>
        </p:spPr>
      </p:sp>
      <p:sp>
        <p:nvSpPr>
          <p:cNvPr id="10" name="Text 8"/>
          <p:cNvSpPr txBox="1"/>
          <p:nvPr/>
        </p:nvSpPr>
        <p:spPr>
          <a:xfrm>
            <a:off x="731520" y="3877056"/>
            <a:ext cx="3931920" cy="658368"/>
          </a:xfrm>
          <a:prstGeom prst="rect">
            <a:avLst/>
          </a:prstGeom>
          <a:noFill/>
          <a:ln/>
        </p:spPr>
        <p:txBody>
          <a:bodyPr wrap="square" lIns="0" tIns="0" rIns="0" bIns="0" rtlCol="0" anchor="ctr"/>
          <a:lstStyle/>
          <a:p>
            <a:pPr indent="0" marL="0">
              <a:buNone/>
            </a:pPr>
            <a:r>
              <a:rPr lang="en-US" sz="1600" b="1" dirty="0">
                <a:solidFill>
                  <a:srgbClr val="1B2A41"/>
                </a:solidFill>
              </a:rPr>
              <a:t>CAMS change</a:t>
            </a:r>
            <a:endParaRPr lang="en-US" sz="1600" dirty="0"/>
          </a:p>
          <a:p>
            <a:pPr indent="0" marL="0">
              <a:buNone/>
            </a:pPr>
            <a:r>
              <a:rPr lang="en-US" sz="1300" dirty="0">
                <a:solidFill>
                  <a:srgbClr val="3A4A63"/>
                </a:solidFill>
              </a:rPr>
              <a:t>how much the regional model expects PM2.5 to change</a:t>
            </a:r>
            <a:endParaRPr lang="en-US" sz="1600" dirty="0"/>
          </a:p>
        </p:txBody>
      </p:sp>
      <p:sp>
        <p:nvSpPr>
          <p:cNvPr id="11" name="input 5"/>
          <p:cNvSpPr/>
          <p:nvPr/>
        </p:nvSpPr>
        <p:spPr>
          <a:xfrm>
            <a:off x="548640" y="4681728"/>
            <a:ext cx="4206240" cy="749808"/>
          </a:xfrm>
          <a:prstGeom prst="roundRect">
            <a:avLst>
              <a:gd name="adj" fmla="val 14634"/>
            </a:avLst>
          </a:prstGeom>
          <a:solidFill>
            <a:schemeClr val="bg2"/>
          </a:solidFill>
          <a:ln w="12700">
            <a:solidFill>
              <a:schemeClr val="bg2"/>
            </a:solidFill>
            <a:prstDash val="solid"/>
          </a:ln>
        </p:spPr>
      </p:sp>
      <p:sp>
        <p:nvSpPr>
          <p:cNvPr id="12" name="Text 10"/>
          <p:cNvSpPr txBox="1"/>
          <p:nvPr/>
        </p:nvSpPr>
        <p:spPr>
          <a:xfrm>
            <a:off x="731520" y="4727448"/>
            <a:ext cx="3931920" cy="658368"/>
          </a:xfrm>
          <a:prstGeom prst="rect">
            <a:avLst/>
          </a:prstGeom>
          <a:noFill/>
          <a:ln/>
        </p:spPr>
        <p:txBody>
          <a:bodyPr wrap="square" lIns="0" tIns="0" rIns="0" bIns="0" rtlCol="0" anchor="ctr"/>
          <a:lstStyle/>
          <a:p>
            <a:pPr indent="0" marL="0">
              <a:buNone/>
            </a:pPr>
            <a:r>
              <a:rPr lang="en-US" sz="1600" b="1" dirty="0">
                <a:solidFill>
                  <a:srgbClr val="1B2A41"/>
                </a:solidFill>
              </a:rPr>
              <a:t>Calendar + lead time</a:t>
            </a:r>
            <a:endParaRPr lang="en-US" sz="1600" dirty="0"/>
          </a:p>
          <a:p>
            <a:pPr indent="0" marL="0">
              <a:buNone/>
            </a:pPr>
            <a:r>
              <a:rPr lang="en-US" sz="1300" dirty="0">
                <a:solidFill>
                  <a:srgbClr val="3A4A63"/>
                </a:solidFill>
              </a:rPr>
              <a:t>hour of day, weekday, h = 1…60</a:t>
            </a:r>
            <a:endParaRPr lang="en-US" sz="1600" dirty="0"/>
          </a:p>
        </p:txBody>
      </p:sp>
      <p:sp>
        <p:nvSpPr>
          <p:cNvPr id="13" name="arrow to model"/>
          <p:cNvSpPr/>
          <p:nvPr/>
        </p:nvSpPr>
        <p:spPr>
          <a:xfrm>
            <a:off x="4937760" y="2926080"/>
            <a:ext cx="548640" cy="411480"/>
          </a:xfrm>
          <a:prstGeom prst="rightArrow">
            <a:avLst/>
          </a:prstGeom>
          <a:solidFill>
            <a:srgbClr val="C9D4E3"/>
          </a:solidFill>
          <a:ln w="12700">
            <a:solidFill>
              <a:srgbClr val="C9D4E3"/>
            </a:solidFill>
            <a:prstDash val="solid"/>
          </a:ln>
        </p:spPr>
      </p:sp>
      <p:sp>
        <p:nvSpPr>
          <p:cNvPr id="14" name="model box"/>
          <p:cNvSpPr/>
          <p:nvPr/>
        </p:nvSpPr>
        <p:spPr>
          <a:xfrm>
            <a:off x="5669280" y="1737360"/>
            <a:ext cx="2651760" cy="2788920"/>
          </a:xfrm>
          <a:prstGeom prst="roundRect">
            <a:avLst>
              <a:gd name="adj" fmla="val 5172"/>
            </a:avLst>
          </a:prstGeom>
          <a:solidFill>
            <a:srgbClr val="1B2A41"/>
          </a:solidFill>
          <a:ln w="12700">
            <a:solidFill>
              <a:srgbClr val="1B2A41"/>
            </a:solidFill>
            <a:prstDash val="solid"/>
          </a:ln>
        </p:spPr>
      </p:sp>
      <p:sp>
        <p:nvSpPr>
          <p:cNvPr id="15" name="model icon circle"/>
          <p:cNvSpPr/>
          <p:nvPr/>
        </p:nvSpPr>
        <p:spPr>
          <a:xfrm>
            <a:off x="6583680" y="1965960"/>
            <a:ext cx="822960" cy="822960"/>
          </a:xfrm>
          <a:prstGeom prst="ellipse">
            <a:avLst/>
          </a:prstGeom>
          <a:solidFill>
            <a:srgbClr val="F08A24"/>
          </a:solidFill>
          <a:ln w="12700">
            <a:solidFill>
              <a:srgbClr val="F08A24"/>
            </a:solidFill>
            <a:prstDash val="solid"/>
          </a:ln>
        </p:spPr>
      </p:sp>
      <p:pic>
        <p:nvPicPr>
          <p:cNvPr id="16" name="model icon" descr="preencoded.png">    </p:cNvPr>
          <p:cNvPicPr>
            <a:picLocks noChangeAspect="1"/>
          </p:cNvPicPr>
          <p:nvPr/>
        </p:nvPicPr>
        <p:blipFill>
          <a:blip r:embed="rId1"/>
          <a:stretch>
            <a:fillRect/>
          </a:stretch>
        </p:blipFill>
        <p:spPr>
          <a:xfrm>
            <a:off x="6781190" y="2163470"/>
            <a:ext cx="427939" cy="427939"/>
          </a:xfrm>
          <a:prstGeom prst="rect">
            <a:avLst/>
          </a:prstGeom>
        </p:spPr>
      </p:pic>
      <p:sp>
        <p:nvSpPr>
          <p:cNvPr id="17" name="Text 14"/>
          <p:cNvSpPr txBox="1"/>
          <p:nvPr/>
        </p:nvSpPr>
        <p:spPr>
          <a:xfrm>
            <a:off x="5852160" y="2926080"/>
            <a:ext cx="2286000" cy="1371600"/>
          </a:xfrm>
          <a:prstGeom prst="rect">
            <a:avLst/>
          </a:prstGeom>
          <a:noFill/>
          <a:ln/>
        </p:spPr>
        <p:txBody>
          <a:bodyPr wrap="square" lIns="0" tIns="0" rIns="0" bIns="0" rtlCol="0" anchor="ctr"/>
          <a:lstStyle/>
          <a:p>
            <a:pPr algn="ctr" indent="0" marL="0">
              <a:buNone/>
            </a:pPr>
            <a:r>
              <a:rPr lang="en-US" sz="1800" b="1" dirty="0">
                <a:solidFill>
                  <a:srgbClr val="FFFFFF"/>
                </a:solidFill>
              </a:rPr>
              <a:t>Gradient-boosted trees</a:t>
            </a:r>
            <a:endParaRPr lang="en-US" sz="1800" dirty="0"/>
          </a:p>
          <a:p>
            <a:pPr algn="ctr" indent="0" marL="0">
              <a:buNone/>
            </a:pPr>
            <a:r>
              <a:rPr lang="en-US" sz="1400" dirty="0">
                <a:solidFill>
                  <a:srgbClr val="FFFFFF"/>
                </a:solidFill>
              </a:rPr>
              <a:t>3 models: 10th, 50th and 90th percentile</a:t>
            </a:r>
            <a:endParaRPr lang="en-US" sz="1800" dirty="0"/>
          </a:p>
        </p:txBody>
      </p:sp>
      <p:sp>
        <p:nvSpPr>
          <p:cNvPr id="18" name="arrow to outputs"/>
          <p:cNvSpPr/>
          <p:nvPr/>
        </p:nvSpPr>
        <p:spPr>
          <a:xfrm>
            <a:off x="8503920" y="2926080"/>
            <a:ext cx="548640" cy="411480"/>
          </a:xfrm>
          <a:prstGeom prst="rightArrow">
            <a:avLst/>
          </a:prstGeom>
          <a:solidFill>
            <a:srgbClr val="C9D4E3"/>
          </a:solidFill>
          <a:ln w="12700">
            <a:solidFill>
              <a:srgbClr val="C9D4E3"/>
            </a:solidFill>
            <a:prstDash val="solid"/>
          </a:ln>
        </p:spPr>
      </p:sp>
      <p:sp>
        <p:nvSpPr>
          <p:cNvPr id="19" name="output 1"/>
          <p:cNvSpPr/>
          <p:nvPr/>
        </p:nvSpPr>
        <p:spPr>
          <a:xfrm>
            <a:off x="9235440" y="1600200"/>
            <a:ext cx="2377440" cy="896112"/>
          </a:xfrm>
          <a:prstGeom prst="roundRect">
            <a:avLst>
              <a:gd name="adj" fmla="val 12245"/>
            </a:avLst>
          </a:prstGeom>
          <a:solidFill>
            <a:srgbClr val="E6EEF8"/>
          </a:solidFill>
          <a:ln w="12700">
            <a:solidFill>
              <a:srgbClr val="E6EEF8"/>
            </a:solidFill>
            <a:prstDash val="solid"/>
          </a:ln>
        </p:spPr>
      </p:sp>
      <p:sp>
        <p:nvSpPr>
          <p:cNvPr id="20" name="Text 17"/>
          <p:cNvSpPr txBox="1"/>
          <p:nvPr/>
        </p:nvSpPr>
        <p:spPr>
          <a:xfrm>
            <a:off x="9418320" y="1691640"/>
            <a:ext cx="2103120" cy="731520"/>
          </a:xfrm>
          <a:prstGeom prst="rect">
            <a:avLst/>
          </a:prstGeom>
          <a:noFill/>
          <a:ln/>
        </p:spPr>
        <p:txBody>
          <a:bodyPr wrap="square" lIns="0" tIns="0" rIns="0" bIns="0" rtlCol="0" anchor="ctr"/>
          <a:lstStyle/>
          <a:p>
            <a:pPr indent="0" marL="0">
              <a:buNone/>
            </a:pPr>
            <a:r>
              <a:rPr lang="en-US" sz="1600" b="1" dirty="0">
                <a:solidFill>
                  <a:srgbClr val="2F6FDE"/>
                </a:solidFill>
              </a:rPr>
              <a:t>Median forecast</a:t>
            </a:r>
            <a:endParaRPr lang="en-US" sz="1600" dirty="0"/>
          </a:p>
          <a:p>
            <a:pPr indent="0" marL="0">
              <a:buNone/>
            </a:pPr>
            <a:r>
              <a:rPr lang="en-US" sz="1300" dirty="0">
                <a:solidFill>
                  <a:srgbClr val="3A4A63"/>
                </a:solidFill>
              </a:rPr>
              <a:t>most likely PM2.5</a:t>
            </a:r>
            <a:endParaRPr lang="en-US" sz="1600" dirty="0"/>
          </a:p>
        </p:txBody>
      </p:sp>
      <p:sp>
        <p:nvSpPr>
          <p:cNvPr id="21" name="output 2"/>
          <p:cNvSpPr/>
          <p:nvPr/>
        </p:nvSpPr>
        <p:spPr>
          <a:xfrm>
            <a:off x="9235440" y="2651760"/>
            <a:ext cx="2377440" cy="896112"/>
          </a:xfrm>
          <a:prstGeom prst="roundRect">
            <a:avLst>
              <a:gd name="adj" fmla="val 12245"/>
            </a:avLst>
          </a:prstGeom>
          <a:solidFill>
            <a:srgbClr val="E6EEF8"/>
          </a:solidFill>
          <a:ln w="12700">
            <a:solidFill>
              <a:srgbClr val="E6EEF8"/>
            </a:solidFill>
            <a:prstDash val="solid"/>
          </a:ln>
        </p:spPr>
      </p:sp>
      <p:sp>
        <p:nvSpPr>
          <p:cNvPr id="22" name="Text 19"/>
          <p:cNvSpPr txBox="1"/>
          <p:nvPr/>
        </p:nvSpPr>
        <p:spPr>
          <a:xfrm>
            <a:off x="9418320" y="2743200"/>
            <a:ext cx="2103120" cy="731520"/>
          </a:xfrm>
          <a:prstGeom prst="rect">
            <a:avLst/>
          </a:prstGeom>
          <a:noFill/>
          <a:ln/>
        </p:spPr>
        <p:txBody>
          <a:bodyPr wrap="square" lIns="0" tIns="0" rIns="0" bIns="0" rtlCol="0" anchor="ctr"/>
          <a:lstStyle/>
          <a:p>
            <a:pPr indent="0" marL="0">
              <a:buNone/>
            </a:pPr>
            <a:r>
              <a:rPr lang="en-US" sz="1600" b="1" dirty="0">
                <a:solidFill>
                  <a:srgbClr val="2F6FDE"/>
                </a:solidFill>
              </a:rPr>
              <a:t>80 % range</a:t>
            </a:r>
            <a:endParaRPr lang="en-US" sz="1600" dirty="0"/>
          </a:p>
          <a:p>
            <a:pPr indent="0" marL="0">
              <a:buNone/>
            </a:pPr>
            <a:r>
              <a:rPr lang="en-US" sz="1300" dirty="0">
                <a:solidFill>
                  <a:srgbClr val="3A4A63"/>
                </a:solidFill>
              </a:rPr>
              <a:t>q10 – q90, calibrated</a:t>
            </a:r>
            <a:endParaRPr lang="en-US" sz="1600" dirty="0"/>
          </a:p>
        </p:txBody>
      </p:sp>
      <p:sp>
        <p:nvSpPr>
          <p:cNvPr id="23" name="output 3"/>
          <p:cNvSpPr/>
          <p:nvPr/>
        </p:nvSpPr>
        <p:spPr>
          <a:xfrm>
            <a:off x="9235440" y="3703320"/>
            <a:ext cx="2377440" cy="896112"/>
          </a:xfrm>
          <a:prstGeom prst="roundRect">
            <a:avLst>
              <a:gd name="adj" fmla="val 12245"/>
            </a:avLst>
          </a:prstGeom>
          <a:solidFill>
            <a:srgbClr val="E6EEF8"/>
          </a:solidFill>
          <a:ln w="12700">
            <a:solidFill>
              <a:srgbClr val="E6EEF8"/>
            </a:solidFill>
            <a:prstDash val="solid"/>
          </a:ln>
        </p:spPr>
      </p:sp>
      <p:sp>
        <p:nvSpPr>
          <p:cNvPr id="24" name="Text 21"/>
          <p:cNvSpPr txBox="1"/>
          <p:nvPr/>
        </p:nvSpPr>
        <p:spPr>
          <a:xfrm>
            <a:off x="9418320" y="3794760"/>
            <a:ext cx="2103120" cy="731520"/>
          </a:xfrm>
          <a:prstGeom prst="rect">
            <a:avLst/>
          </a:prstGeom>
          <a:noFill/>
          <a:ln/>
        </p:spPr>
        <p:txBody>
          <a:bodyPr wrap="square" lIns="0" tIns="0" rIns="0" bIns="0" rtlCol="0" anchor="ctr"/>
          <a:lstStyle/>
          <a:p>
            <a:pPr indent="0" marL="0">
              <a:buNone/>
            </a:pPr>
            <a:r>
              <a:rPr lang="en-US" sz="1600" b="1" dirty="0">
                <a:solidFill>
                  <a:srgbClr val="2F6FDE"/>
                </a:solidFill>
              </a:rPr>
              <a:t>Probability</a:t>
            </a:r>
            <a:endParaRPr lang="en-US" sz="1600" dirty="0"/>
          </a:p>
          <a:p>
            <a:pPr indent="0" marL="0">
              <a:buNone/>
            </a:pPr>
            <a:r>
              <a:rPr lang="en-US" sz="1300" dirty="0">
                <a:solidFill>
                  <a:srgbClr val="3A4A63"/>
                </a:solidFill>
              </a:rPr>
              <a:t>P(PM2.5 &gt; your threshold)</a:t>
            </a:r>
            <a:endParaRPr lang="en-US" sz="1600" dirty="0"/>
          </a:p>
        </p:txBody>
      </p:sp>
      <p:sp>
        <p:nvSpPr>
          <p:cNvPr id="25" name="why GBDT"/>
          <p:cNvSpPr/>
          <p:nvPr/>
        </p:nvSpPr>
        <p:spPr>
          <a:xfrm>
            <a:off x="548640" y="5577840"/>
            <a:ext cx="11064240" cy="640080"/>
          </a:xfrm>
          <a:prstGeom prst="roundRect">
            <a:avLst>
              <a:gd name="adj" fmla="val 17143"/>
            </a:avLst>
          </a:prstGeom>
          <a:solidFill>
            <a:srgbClr val="E6EEF8"/>
          </a:solidFill>
          <a:ln w="12700">
            <a:solidFill>
              <a:srgbClr val="E6EEF8"/>
            </a:solidFill>
            <a:prstDash val="solid"/>
          </a:ln>
        </p:spPr>
      </p:sp>
      <p:sp>
        <p:nvSpPr>
          <p:cNvPr id="26" name="Text 23"/>
          <p:cNvSpPr txBox="1"/>
          <p:nvPr/>
        </p:nvSpPr>
        <p:spPr>
          <a:xfrm>
            <a:off x="777240" y="5577840"/>
            <a:ext cx="10698480" cy="640080"/>
          </a:xfrm>
          <a:prstGeom prst="rect">
            <a:avLst/>
          </a:prstGeom>
          <a:noFill/>
          <a:ln/>
        </p:spPr>
        <p:txBody>
          <a:bodyPr wrap="square" lIns="0" tIns="0" rIns="0" bIns="0" rtlCol="0" anchor="ctr"/>
          <a:lstStyle/>
          <a:p>
            <a:pPr indent="0" marL="0">
              <a:buNone/>
            </a:pPr>
            <a:r>
              <a:rPr lang="en-US" sz="1300" b="1" dirty="0">
                <a:solidFill>
                  <a:srgbClr val="1B2A41"/>
                </a:solidFill>
              </a:rPr>
              <a:t>Why gradient boosting:  </a:t>
            </a:r>
            <a:pPr indent="0" marL="0">
              <a:buNone/>
            </a:pPr>
            <a:r>
              <a:rPr lang="en-US" sz="1300" dirty="0">
                <a:solidFill>
                  <a:srgbClr val="3A4A63"/>
                </a:solidFill>
              </a:rPr>
              <a:t>best on tabular data  ·  learns thresholds and interactions  ·  handles missing values  ·  built-in quantile loss  ·  fast on a CPU  ·  explainable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Beats "no change" at every lead time, and CAMS by 3×</a:t>
            </a:r>
            <a:endParaRPr lang="en-US" sz="3200" dirty="0"/>
          </a:p>
        </p:txBody>
      </p:sp>
      <p:graphicFrame>
        <p:nvGraphicFramePr>
          <p:cNvPr id="3" name="error by lead time chart"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key fix card"/>
          <p:cNvSpPr/>
          <p:nvPr/>
        </p:nvSpPr>
        <p:spPr>
          <a:xfrm>
            <a:off x="7863840" y="1325880"/>
            <a:ext cx="3749040" cy="1691640"/>
          </a:xfrm>
          <a:prstGeom prst="roundRect">
            <a:avLst>
              <a:gd name="adj" fmla="val 6486"/>
            </a:avLst>
          </a:prstGeom>
          <a:solidFill>
            <a:schemeClr val="bg2"/>
          </a:solidFill>
          <a:ln w="12700">
            <a:solidFill>
              <a:schemeClr val="bg2"/>
            </a:solidFill>
            <a:prstDash val="solid"/>
          </a:ln>
        </p:spPr>
      </p:sp>
      <p:sp>
        <p:nvSpPr>
          <p:cNvPr id="5" name="Text 2"/>
          <p:cNvSpPr txBox="1"/>
          <p:nvPr/>
        </p:nvSpPr>
        <p:spPr>
          <a:xfrm>
            <a:off x="8092440" y="1463040"/>
            <a:ext cx="3383280" cy="365760"/>
          </a:xfrm>
          <a:prstGeom prst="rect">
            <a:avLst/>
          </a:prstGeom>
          <a:noFill/>
          <a:ln/>
        </p:spPr>
        <p:txBody>
          <a:bodyPr wrap="square" lIns="0" tIns="0" rIns="0" bIns="0" rtlCol="0" anchor="ctr"/>
          <a:lstStyle/>
          <a:p>
            <a:pPr indent="0" marL="0">
              <a:buNone/>
            </a:pPr>
            <a:r>
              <a:rPr lang="en-US" sz="1800" b="1" dirty="0">
                <a:solidFill>
                  <a:schemeClr val="tx1"/>
                </a:solidFill>
              </a:rPr>
              <a:t>Key fix: predict the change</a:t>
            </a:r>
            <a:endParaRPr lang="en-US" sz="1800" dirty="0"/>
          </a:p>
        </p:txBody>
      </p:sp>
      <p:sp>
        <p:nvSpPr>
          <p:cNvPr id="6" name="Text 3"/>
          <p:cNvSpPr txBox="1"/>
          <p:nvPr/>
        </p:nvSpPr>
        <p:spPr>
          <a:xfrm>
            <a:off x="8092440" y="1874520"/>
            <a:ext cx="3383280" cy="1188720"/>
          </a:xfrm>
          <a:prstGeom prst="rect">
            <a:avLst/>
          </a:prstGeom>
          <a:noFill/>
          <a:ln/>
        </p:spPr>
        <p:txBody>
          <a:bodyPr wrap="square" lIns="0" tIns="0" rIns="0" bIns="0" rtlCol="0" anchor="t"/>
          <a:lstStyle/>
          <a:p>
            <a:pPr indent="0" marL="0">
              <a:buNone/>
            </a:pPr>
            <a:r>
              <a:rPr lang="en-US" sz="1400" dirty="0">
                <a:solidFill>
                  <a:schemeClr val="tx2"/>
                </a:solidFill>
              </a:rPr>
              <a:t>The first model predicted the level and lost to "no change" (7.3 vs 4.4 µg/m³). Predicting the change from the latest reading fixed it.</a:t>
            </a:r>
            <a:endParaRPr lang="en-US" sz="1400" dirty="0"/>
          </a:p>
        </p:txBody>
      </p:sp>
      <p:sp>
        <p:nvSpPr>
          <p:cNvPr id="7" name="Text 4"/>
          <p:cNvSpPr txBox="1"/>
          <p:nvPr/>
        </p:nvSpPr>
        <p:spPr>
          <a:xfrm>
            <a:off x="7863840" y="3383280"/>
            <a:ext cx="3749040" cy="502920"/>
          </a:xfrm>
          <a:prstGeom prst="rect">
            <a:avLst/>
          </a:prstGeom>
          <a:noFill/>
          <a:ln/>
        </p:spPr>
        <p:txBody>
          <a:bodyPr wrap="square" lIns="0" tIns="0" rIns="0" bIns="0" rtlCol="0" anchor="ctr"/>
          <a:lstStyle/>
          <a:p>
            <a:pPr indent="0" marL="0">
              <a:buNone/>
            </a:pPr>
            <a:r>
              <a:rPr lang="en-US" sz="3000" b="1" dirty="0">
                <a:solidFill>
                  <a:schemeClr val="accent3"/>
                </a:solidFill>
              </a:rPr>
              <a:t>19 % / 23 %</a:t>
            </a:r>
            <a:endParaRPr lang="en-US" sz="3000" dirty="0"/>
          </a:p>
        </p:txBody>
      </p:sp>
      <p:sp>
        <p:nvSpPr>
          <p:cNvPr id="8" name="Text 5"/>
          <p:cNvSpPr txBox="1"/>
          <p:nvPr/>
        </p:nvSpPr>
        <p:spPr>
          <a:xfrm>
            <a:off x="7863840" y="3867912"/>
            <a:ext cx="3749040" cy="411480"/>
          </a:xfrm>
          <a:prstGeom prst="rect">
            <a:avLst/>
          </a:prstGeom>
          <a:noFill/>
          <a:ln/>
        </p:spPr>
        <p:txBody>
          <a:bodyPr wrap="square" lIns="0" tIns="0" rIns="0" bIns="0" rtlCol="0" anchor="t"/>
          <a:lstStyle/>
          <a:p>
            <a:pPr indent="0" marL="0">
              <a:buNone/>
            </a:pPr>
            <a:r>
              <a:rPr lang="en-US" sz="1300" dirty="0">
                <a:solidFill>
                  <a:schemeClr val="tx2"/>
                </a:solidFill>
              </a:rPr>
              <a:t>less error than "no change", day 1 / day 2</a:t>
            </a:r>
            <a:endParaRPr lang="en-US" sz="1300" dirty="0"/>
          </a:p>
        </p:txBody>
      </p:sp>
      <p:sp>
        <p:nvSpPr>
          <p:cNvPr id="9" name="Text 6"/>
          <p:cNvSpPr txBox="1"/>
          <p:nvPr/>
        </p:nvSpPr>
        <p:spPr>
          <a:xfrm>
            <a:off x="7863840" y="4315968"/>
            <a:ext cx="3749040" cy="502920"/>
          </a:xfrm>
          <a:prstGeom prst="rect">
            <a:avLst/>
          </a:prstGeom>
          <a:noFill/>
          <a:ln/>
        </p:spPr>
        <p:txBody>
          <a:bodyPr wrap="square" lIns="0" tIns="0" rIns="0" bIns="0" rtlCol="0" anchor="ctr"/>
          <a:lstStyle/>
          <a:p>
            <a:pPr indent="0" marL="0">
              <a:buNone/>
            </a:pPr>
            <a:r>
              <a:rPr lang="en-US" sz="3000" b="1" dirty="0">
                <a:solidFill>
                  <a:schemeClr val="accent1"/>
                </a:solidFill>
              </a:rPr>
              <a:t>67–72 %</a:t>
            </a:r>
            <a:endParaRPr lang="en-US" sz="3000" dirty="0"/>
          </a:p>
        </p:txBody>
      </p:sp>
      <p:sp>
        <p:nvSpPr>
          <p:cNvPr id="10" name="Text 7"/>
          <p:cNvSpPr txBox="1"/>
          <p:nvPr/>
        </p:nvSpPr>
        <p:spPr>
          <a:xfrm>
            <a:off x="7863840" y="4800600"/>
            <a:ext cx="3749040" cy="411480"/>
          </a:xfrm>
          <a:prstGeom prst="rect">
            <a:avLst/>
          </a:prstGeom>
          <a:noFill/>
          <a:ln/>
        </p:spPr>
        <p:txBody>
          <a:bodyPr wrap="square" lIns="0" tIns="0" rIns="0" bIns="0" rtlCol="0" anchor="t"/>
          <a:lstStyle/>
          <a:p>
            <a:pPr indent="0" marL="0">
              <a:buNone/>
            </a:pPr>
            <a:r>
              <a:rPr lang="en-US" sz="1300" dirty="0">
                <a:solidFill>
                  <a:schemeClr val="tx2"/>
                </a:solidFill>
              </a:rPr>
              <a:t>less error than CAMS, the model behind weather apps</a:t>
            </a:r>
            <a:endParaRPr lang="en-US" sz="1300" dirty="0"/>
          </a:p>
        </p:txBody>
      </p:sp>
      <p:sp>
        <p:nvSpPr>
          <p:cNvPr id="11" name="Text 8"/>
          <p:cNvSpPr txBox="1"/>
          <p:nvPr/>
        </p:nvSpPr>
        <p:spPr>
          <a:xfrm>
            <a:off x="7863840" y="5248656"/>
            <a:ext cx="3749040" cy="502920"/>
          </a:xfrm>
          <a:prstGeom prst="rect">
            <a:avLst/>
          </a:prstGeom>
          <a:noFill/>
          <a:ln/>
        </p:spPr>
        <p:txBody>
          <a:bodyPr wrap="square" lIns="0" tIns="0" rIns="0" bIns="0" rtlCol="0" anchor="ctr"/>
          <a:lstStyle/>
          <a:p>
            <a:pPr indent="0" marL="0">
              <a:buNone/>
            </a:pPr>
            <a:r>
              <a:rPr lang="en-US" sz="3000" b="1" dirty="0">
                <a:solidFill>
                  <a:schemeClr val="accent2"/>
                </a:solidFill>
              </a:rPr>
              <a:t>78–81 %</a:t>
            </a:r>
            <a:endParaRPr lang="en-US" sz="3000" dirty="0"/>
          </a:p>
        </p:txBody>
      </p:sp>
      <p:sp>
        <p:nvSpPr>
          <p:cNvPr id="12" name="Text 9"/>
          <p:cNvSpPr txBox="1"/>
          <p:nvPr/>
        </p:nvSpPr>
        <p:spPr>
          <a:xfrm>
            <a:off x="7863840" y="5733288"/>
            <a:ext cx="3749040" cy="411480"/>
          </a:xfrm>
          <a:prstGeom prst="rect">
            <a:avLst/>
          </a:prstGeom>
          <a:noFill/>
          <a:ln/>
        </p:spPr>
        <p:txBody>
          <a:bodyPr wrap="square" lIns="0" tIns="0" rIns="0" bIns="0" rtlCol="0" anchor="t"/>
          <a:lstStyle/>
          <a:p>
            <a:pPr indent="0" marL="0">
              <a:buNone/>
            </a:pPr>
            <a:r>
              <a:rPr lang="en-US" sz="1300" dirty="0">
                <a:solidFill>
                  <a:schemeClr val="tx2"/>
                </a:solidFill>
              </a:rPr>
              <a:t>of outcomes fall inside the 80 % range: calibrated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The early-warning dashboard</a:t>
            </a:r>
            <a:endParaRPr lang="en-US" sz="3200" dirty="0"/>
          </a:p>
        </p:txBody>
      </p:sp>
      <p:pic>
        <p:nvPicPr>
          <p:cNvPr id="3" name="screenshot Header" descr="/home/claude/chartguide/chart_guide_images/01.png">    </p:cNvPr>
          <p:cNvPicPr>
            <a:picLocks noChangeAspect="1"/>
          </p:cNvPicPr>
          <p:nvPr/>
        </p:nvPicPr>
        <p:blipFill>
          <a:blip r:embed="rId1"/>
          <a:stretch>
            <a:fillRect/>
          </a:stretch>
        </p:blipFill>
        <p:spPr>
          <a:xfrm>
            <a:off x="548640" y="1832553"/>
            <a:ext cx="5394960" cy="3013767"/>
          </a:xfrm>
          <a:prstGeom prst="rect">
            <a:avLst/>
          </a:prstGeom>
          <a:effectLst>
            <a:outerShdw sx="100000" sy="100000" kx="0" ky="0" algn="bl" rotWithShape="0" blurRad="76200" dist="25400" dir="5400000">
              <a:srgbClr val="1B2A41">
                <a:alpha val="18000"/>
              </a:srgbClr>
            </a:outerShdw>
          </a:effectLst>
        </p:spPr>
      </p:pic>
      <p:sp>
        <p:nvSpPr>
          <p:cNvPr id="4" name="Text 1"/>
          <p:cNvSpPr txBox="1"/>
          <p:nvPr/>
        </p:nvSpPr>
        <p:spPr>
          <a:xfrm>
            <a:off x="548640" y="4983480"/>
            <a:ext cx="5394960" cy="868680"/>
          </a:xfrm>
          <a:prstGeom prst="rect">
            <a:avLst/>
          </a:prstGeom>
          <a:noFill/>
          <a:ln/>
        </p:spPr>
        <p:txBody>
          <a:bodyPr wrap="square" lIns="0" tIns="0" rIns="0" bIns="0" rtlCol="0" anchor="t"/>
          <a:lstStyle/>
          <a:p>
            <a:pPr indent="0" marL="0">
              <a:buNone/>
            </a:pPr>
            <a:r>
              <a:rPr lang="en-US" sz="1700" b="1" dirty="0">
                <a:solidFill>
                  <a:srgbClr val="1B2A41"/>
                </a:solidFill>
              </a:rPr>
              <a:t>Header</a:t>
            </a:r>
            <a:endParaRPr lang="en-US" sz="1700" dirty="0"/>
          </a:p>
          <a:p>
            <a:pPr indent="0" marL="0">
              <a:buNone/>
            </a:pPr>
            <a:r>
              <a:rPr lang="en-US" sz="1400" dirty="0">
                <a:solidFill>
                  <a:srgbClr val="3A4A63"/>
                </a:solidFill>
              </a:rPr>
              <a:t>CPCB AQI, warning level with start time and duration, 48-hour colour strip, health advice</a:t>
            </a:r>
            <a:endParaRPr lang="en-US" sz="1700" dirty="0"/>
          </a:p>
        </p:txBody>
      </p:sp>
      <p:pic>
        <p:nvPicPr>
          <p:cNvPr id="5" name="screenshot Forecast tab" descr="/home/claude/chartguide/chart_guide_images/02.png">    </p:cNvPr>
          <p:cNvPicPr>
            <a:picLocks noChangeAspect="1"/>
          </p:cNvPicPr>
          <p:nvPr/>
        </p:nvPicPr>
        <p:blipFill>
          <a:blip r:embed="rId2"/>
          <a:stretch>
            <a:fillRect/>
          </a:stretch>
        </p:blipFill>
        <p:spPr>
          <a:xfrm>
            <a:off x="6217920" y="1283044"/>
            <a:ext cx="5394960" cy="3563276"/>
          </a:xfrm>
          <a:prstGeom prst="rect">
            <a:avLst/>
          </a:prstGeom>
          <a:effectLst>
            <a:outerShdw sx="100000" sy="100000" kx="0" ky="0" algn="bl" rotWithShape="0" blurRad="76200" dist="25400" dir="5400000">
              <a:srgbClr val="1B2A41">
                <a:alpha val="18000"/>
              </a:srgbClr>
            </a:outerShdw>
          </a:effectLst>
        </p:spPr>
      </p:pic>
      <p:sp>
        <p:nvSpPr>
          <p:cNvPr id="6" name="Text 2"/>
          <p:cNvSpPr txBox="1"/>
          <p:nvPr/>
        </p:nvSpPr>
        <p:spPr>
          <a:xfrm>
            <a:off x="6217920" y="4983480"/>
            <a:ext cx="5394960" cy="868680"/>
          </a:xfrm>
          <a:prstGeom prst="rect">
            <a:avLst/>
          </a:prstGeom>
          <a:noFill/>
          <a:ln/>
        </p:spPr>
        <p:txBody>
          <a:bodyPr wrap="square" lIns="0" tIns="0" rIns="0" bIns="0" rtlCol="0" anchor="t"/>
          <a:lstStyle/>
          <a:p>
            <a:pPr indent="0" marL="0">
              <a:buNone/>
            </a:pPr>
            <a:r>
              <a:rPr lang="en-US" sz="1700" b="1" dirty="0">
                <a:solidFill>
                  <a:srgbClr val="1B2A41"/>
                </a:solidFill>
              </a:rPr>
              <a:t>Forecast tab</a:t>
            </a:r>
            <a:endParaRPr lang="en-US" sz="1700" dirty="0"/>
          </a:p>
          <a:p>
            <a:pPr indent="0" marL="0">
              <a:buNone/>
            </a:pPr>
            <a:r>
              <a:rPr lang="en-US" sz="1400" dirty="0">
                <a:solidFill>
                  <a:srgbClr val="3A4A63"/>
                </a:solidFill>
              </a:rPr>
              <a:t>Measured vs forecast with its 80 % band, CAMS for comparison, hourly chance of exceeding your threshold</a:t>
            </a:r>
            <a:endParaRPr lang="en-US" sz="1700" dirty="0"/>
          </a:p>
        </p:txBody>
      </p:sp>
      <p:sp>
        <p:nvSpPr>
          <p:cNvPr id="7" name="Text 3"/>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400" b="1" dirty="0">
                <a:solidFill>
                  <a:srgbClr val="1B2A41"/>
                </a:solidFill>
              </a:rPr>
              <a:t>Other tabs: </a:t>
            </a:r>
            <a:pPr indent="0" marL="0">
              <a:buNone/>
            </a:pPr>
            <a:r>
              <a:rPr lang="en-US" sz="1400" dirty="0">
                <a:solidFill>
                  <a:schemeClr val="tx2"/>
                </a:solidFill>
              </a:rPr>
              <a:t>Plan your day  ·  Why (drivers)  ·  Track record  ·  Patterns  ·  Compared with weather apps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Next steps toward the final submission</a:t>
            </a:r>
            <a:endParaRPr lang="en-US" sz="3200" dirty="0"/>
          </a:p>
        </p:txBody>
      </p:sp>
      <p:sp>
        <p:nvSpPr>
          <p:cNvPr id="3" name="next 1 icon circle"/>
          <p:cNvSpPr/>
          <p:nvPr/>
        </p:nvSpPr>
        <p:spPr>
          <a:xfrm>
            <a:off x="548640" y="1417320"/>
            <a:ext cx="731520" cy="731520"/>
          </a:xfrm>
          <a:prstGeom prst="ellipse">
            <a:avLst/>
          </a:prstGeom>
          <a:solidFill>
            <a:srgbClr val="2F6FDE"/>
          </a:solidFill>
          <a:ln w="12700">
            <a:solidFill>
              <a:srgbClr val="2F6FDE"/>
            </a:solidFill>
            <a:prstDash val="solid"/>
          </a:ln>
        </p:spPr>
      </p:sp>
      <p:pic>
        <p:nvPicPr>
          <p:cNvPr id="4" name="next 1 icon" descr="preencoded.png">    </p:cNvPr>
          <p:cNvPicPr>
            <a:picLocks noChangeAspect="1"/>
          </p:cNvPicPr>
          <p:nvPr/>
        </p:nvPicPr>
        <p:blipFill>
          <a:blip r:embed="rId1"/>
          <a:stretch>
            <a:fillRect/>
          </a:stretch>
        </p:blipFill>
        <p:spPr>
          <a:xfrm>
            <a:off x="724205" y="1592885"/>
            <a:ext cx="380390" cy="380390"/>
          </a:xfrm>
          <a:prstGeom prst="rect">
            <a:avLst/>
          </a:prstGeom>
        </p:spPr>
      </p:pic>
      <p:sp>
        <p:nvSpPr>
          <p:cNvPr id="5" name="Text 2"/>
          <p:cNvSpPr txBox="1"/>
          <p:nvPr/>
        </p:nvSpPr>
        <p:spPr>
          <a:xfrm>
            <a:off x="1508760" y="1417320"/>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Validate warnings in winter</a:t>
            </a:r>
            <a:endParaRPr lang="en-US" sz="1800" dirty="0"/>
          </a:p>
        </p:txBody>
      </p:sp>
      <p:sp>
        <p:nvSpPr>
          <p:cNvPr id="6" name="Text 3"/>
          <p:cNvSpPr txBox="1"/>
          <p:nvPr/>
        </p:nvSpPr>
        <p:spPr>
          <a:xfrm>
            <a:off x="1508760" y="1847088"/>
            <a:ext cx="4434840" cy="914400"/>
          </a:xfrm>
          <a:prstGeom prst="rect">
            <a:avLst/>
          </a:prstGeom>
          <a:noFill/>
          <a:ln/>
        </p:spPr>
        <p:txBody>
          <a:bodyPr wrap="square" lIns="0" tIns="0" rIns="0" bIns="0" rtlCol="0" anchor="t"/>
          <a:lstStyle/>
          <a:p>
            <a:pPr indent="0" marL="0">
              <a:buNone/>
            </a:pPr>
            <a:r>
              <a:rPr lang="en-US" sz="1400" dirty="0">
                <a:solidFill>
                  <a:schemeClr val="tx2"/>
                </a:solidFill>
              </a:rPr>
              <a:t>Retrain after Nov–Dec so the test period includes polluted months; report hit and false-alarm rates</a:t>
            </a:r>
            <a:endParaRPr lang="en-US" sz="1400" dirty="0"/>
          </a:p>
        </p:txBody>
      </p:sp>
      <p:sp>
        <p:nvSpPr>
          <p:cNvPr id="7" name="next 2 icon circle"/>
          <p:cNvSpPr/>
          <p:nvPr/>
        </p:nvSpPr>
        <p:spPr>
          <a:xfrm>
            <a:off x="6172200" y="1417320"/>
            <a:ext cx="731520" cy="731520"/>
          </a:xfrm>
          <a:prstGeom prst="ellipse">
            <a:avLst/>
          </a:prstGeom>
          <a:solidFill>
            <a:srgbClr val="3A4A63"/>
          </a:solidFill>
          <a:ln w="12700">
            <a:solidFill>
              <a:srgbClr val="3A4A63"/>
            </a:solidFill>
            <a:prstDash val="solid"/>
          </a:ln>
        </p:spPr>
      </p:sp>
      <p:pic>
        <p:nvPicPr>
          <p:cNvPr id="8" name="next 2 icon" descr="preencoded.png">    </p:cNvPr>
          <p:cNvPicPr>
            <a:picLocks noChangeAspect="1"/>
          </p:cNvPicPr>
          <p:nvPr/>
        </p:nvPicPr>
        <p:blipFill>
          <a:blip r:embed="rId2"/>
          <a:stretch>
            <a:fillRect/>
          </a:stretch>
        </p:blipFill>
        <p:spPr>
          <a:xfrm>
            <a:off x="6347765" y="1592885"/>
            <a:ext cx="380390" cy="380390"/>
          </a:xfrm>
          <a:prstGeom prst="rect">
            <a:avLst/>
          </a:prstGeom>
        </p:spPr>
      </p:pic>
      <p:sp>
        <p:nvSpPr>
          <p:cNvPr id="9" name="Text 5"/>
          <p:cNvSpPr txBox="1"/>
          <p:nvPr/>
        </p:nvSpPr>
        <p:spPr>
          <a:xfrm>
            <a:off x="7132320" y="1417320"/>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Deploy online</a:t>
            </a:r>
            <a:endParaRPr lang="en-US" sz="1800" dirty="0"/>
          </a:p>
        </p:txBody>
      </p:sp>
      <p:sp>
        <p:nvSpPr>
          <p:cNvPr id="10" name="Text 6"/>
          <p:cNvSpPr txBox="1"/>
          <p:nvPr/>
        </p:nvSpPr>
        <p:spPr>
          <a:xfrm>
            <a:off x="7132320" y="1847088"/>
            <a:ext cx="4434840" cy="914400"/>
          </a:xfrm>
          <a:prstGeom prst="rect">
            <a:avLst/>
          </a:prstGeom>
          <a:noFill/>
          <a:ln/>
        </p:spPr>
        <p:txBody>
          <a:bodyPr wrap="square" lIns="0" tIns="0" rIns="0" bIns="0" rtlCol="0" anchor="t"/>
          <a:lstStyle/>
          <a:p>
            <a:pPr indent="0" marL="0">
              <a:buNone/>
            </a:pPr>
            <a:r>
              <a:rPr lang="en-US" sz="1400" dirty="0">
                <a:solidFill>
                  <a:schemeClr val="tx2"/>
                </a:solidFill>
              </a:rPr>
              <a:t>Host the dashboard on a cloud server with scheduled hourly data updates</a:t>
            </a:r>
            <a:endParaRPr lang="en-US" sz="1400" dirty="0"/>
          </a:p>
        </p:txBody>
      </p:sp>
      <p:sp>
        <p:nvSpPr>
          <p:cNvPr id="11" name="next 3 icon circle"/>
          <p:cNvSpPr/>
          <p:nvPr/>
        </p:nvSpPr>
        <p:spPr>
          <a:xfrm>
            <a:off x="548640" y="3017520"/>
            <a:ext cx="731520" cy="731520"/>
          </a:xfrm>
          <a:prstGeom prst="ellipse">
            <a:avLst/>
          </a:prstGeom>
          <a:solidFill>
            <a:srgbClr val="3FA34D"/>
          </a:solidFill>
          <a:ln w="12700">
            <a:solidFill>
              <a:srgbClr val="3FA34D"/>
            </a:solidFill>
            <a:prstDash val="solid"/>
          </a:ln>
        </p:spPr>
      </p:sp>
      <p:pic>
        <p:nvPicPr>
          <p:cNvPr id="12" name="next 3 icon" descr="preencoded.png">    </p:cNvPr>
          <p:cNvPicPr>
            <a:picLocks noChangeAspect="1"/>
          </p:cNvPicPr>
          <p:nvPr/>
        </p:nvPicPr>
        <p:blipFill>
          <a:blip r:embed="rId3"/>
          <a:stretch>
            <a:fillRect/>
          </a:stretch>
        </p:blipFill>
        <p:spPr>
          <a:xfrm>
            <a:off x="724205" y="3193085"/>
            <a:ext cx="380390" cy="380390"/>
          </a:xfrm>
          <a:prstGeom prst="rect">
            <a:avLst/>
          </a:prstGeom>
        </p:spPr>
      </p:pic>
      <p:sp>
        <p:nvSpPr>
          <p:cNvPr id="13" name="Text 8"/>
          <p:cNvSpPr txBox="1"/>
          <p:nvPr/>
        </p:nvSpPr>
        <p:spPr>
          <a:xfrm>
            <a:off x="1508760" y="3017520"/>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Multiple cities</a:t>
            </a:r>
            <a:endParaRPr lang="en-US" sz="1800" dirty="0"/>
          </a:p>
        </p:txBody>
      </p:sp>
      <p:sp>
        <p:nvSpPr>
          <p:cNvPr id="14" name="Text 9"/>
          <p:cNvSpPr txBox="1"/>
          <p:nvPr/>
        </p:nvSpPr>
        <p:spPr>
          <a:xfrm>
            <a:off x="1508760" y="3447288"/>
            <a:ext cx="4434840" cy="914400"/>
          </a:xfrm>
          <a:prstGeom prst="rect">
            <a:avLst/>
          </a:prstGeom>
          <a:noFill/>
          <a:ln/>
        </p:spPr>
        <p:txBody>
          <a:bodyPr wrap="square" lIns="0" tIns="0" rIns="0" bIns="0" rtlCol="0" anchor="t"/>
          <a:lstStyle/>
          <a:p>
            <a:pPr indent="0" marL="0">
              <a:buNone/>
            </a:pPr>
            <a:r>
              <a:rPr lang="en-US" sz="1400" dirty="0">
                <a:solidFill>
                  <a:schemeClr val="tx2"/>
                </a:solidFill>
              </a:rPr>
              <a:t>Extend the pipeline to other Indian cities, with city search in the dashboard</a:t>
            </a:r>
            <a:endParaRPr lang="en-US" sz="1400" dirty="0"/>
          </a:p>
        </p:txBody>
      </p:sp>
      <p:sp>
        <p:nvSpPr>
          <p:cNvPr id="15" name="next 4 icon circle"/>
          <p:cNvSpPr/>
          <p:nvPr/>
        </p:nvSpPr>
        <p:spPr>
          <a:xfrm>
            <a:off x="6172200" y="3017520"/>
            <a:ext cx="731520" cy="731520"/>
          </a:xfrm>
          <a:prstGeom prst="ellipse">
            <a:avLst/>
          </a:prstGeom>
          <a:solidFill>
            <a:srgbClr val="F2C230"/>
          </a:solidFill>
          <a:ln w="12700">
            <a:solidFill>
              <a:srgbClr val="F2C230"/>
            </a:solidFill>
            <a:prstDash val="solid"/>
          </a:ln>
        </p:spPr>
      </p:sp>
      <p:pic>
        <p:nvPicPr>
          <p:cNvPr id="16" name="next 4 icon" descr="preencoded.png">    </p:cNvPr>
          <p:cNvPicPr>
            <a:picLocks noChangeAspect="1"/>
          </p:cNvPicPr>
          <p:nvPr/>
        </p:nvPicPr>
        <p:blipFill>
          <a:blip r:embed="rId4"/>
          <a:stretch>
            <a:fillRect/>
          </a:stretch>
        </p:blipFill>
        <p:spPr>
          <a:xfrm>
            <a:off x="6347765" y="3193085"/>
            <a:ext cx="380390" cy="380390"/>
          </a:xfrm>
          <a:prstGeom prst="rect">
            <a:avLst/>
          </a:prstGeom>
        </p:spPr>
      </p:pic>
      <p:sp>
        <p:nvSpPr>
          <p:cNvPr id="17" name="Text 11"/>
          <p:cNvSpPr txBox="1"/>
          <p:nvPr/>
        </p:nvSpPr>
        <p:spPr>
          <a:xfrm>
            <a:off x="7132320" y="3017520"/>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Station choice</a:t>
            </a:r>
            <a:endParaRPr lang="en-US" sz="1800" dirty="0"/>
          </a:p>
        </p:txBody>
      </p:sp>
      <p:sp>
        <p:nvSpPr>
          <p:cNvPr id="18" name="Text 12"/>
          <p:cNvSpPr txBox="1"/>
          <p:nvPr/>
        </p:nvSpPr>
        <p:spPr>
          <a:xfrm>
            <a:off x="7132320" y="3447288"/>
            <a:ext cx="4434840" cy="914400"/>
          </a:xfrm>
          <a:prstGeom prst="rect">
            <a:avLst/>
          </a:prstGeom>
          <a:noFill/>
          <a:ln/>
        </p:spPr>
        <p:txBody>
          <a:bodyPr wrap="square" lIns="0" tIns="0" rIns="0" bIns="0" rtlCol="0" anchor="t"/>
          <a:lstStyle/>
          <a:p>
            <a:pPr indent="0" marL="0">
              <a:buNone/>
            </a:pPr>
            <a:r>
              <a:rPr lang="en-US" sz="1400" dirty="0">
                <a:solidFill>
                  <a:schemeClr val="tx2"/>
                </a:solidFill>
              </a:rPr>
              <a:t>Let users pick the monitoring station instead of the automatic choice</a:t>
            </a:r>
            <a:endParaRPr lang="en-US" sz="1400" dirty="0"/>
          </a:p>
        </p:txBody>
      </p:sp>
      <p:sp>
        <p:nvSpPr>
          <p:cNvPr id="19" name="next 5 icon circle"/>
          <p:cNvSpPr/>
          <p:nvPr/>
        </p:nvSpPr>
        <p:spPr>
          <a:xfrm>
            <a:off x="548640" y="4617720"/>
            <a:ext cx="731520" cy="731520"/>
          </a:xfrm>
          <a:prstGeom prst="ellipse">
            <a:avLst/>
          </a:prstGeom>
          <a:solidFill>
            <a:srgbClr val="F08A24"/>
          </a:solidFill>
          <a:ln w="12700">
            <a:solidFill>
              <a:srgbClr val="F08A24"/>
            </a:solidFill>
            <a:prstDash val="solid"/>
          </a:ln>
        </p:spPr>
      </p:sp>
      <p:pic>
        <p:nvPicPr>
          <p:cNvPr id="20" name="next 5 icon" descr="preencoded.png">    </p:cNvPr>
          <p:cNvPicPr>
            <a:picLocks noChangeAspect="1"/>
          </p:cNvPicPr>
          <p:nvPr/>
        </p:nvPicPr>
        <p:blipFill>
          <a:blip r:embed="rId5"/>
          <a:stretch>
            <a:fillRect/>
          </a:stretch>
        </p:blipFill>
        <p:spPr>
          <a:xfrm>
            <a:off x="724205" y="4793285"/>
            <a:ext cx="380390" cy="380390"/>
          </a:xfrm>
          <a:prstGeom prst="rect">
            <a:avLst/>
          </a:prstGeom>
        </p:spPr>
      </p:pic>
      <p:sp>
        <p:nvSpPr>
          <p:cNvPr id="21" name="Text 14"/>
          <p:cNvSpPr txBox="1"/>
          <p:nvPr/>
        </p:nvSpPr>
        <p:spPr>
          <a:xfrm>
            <a:off x="1508760" y="4617720"/>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Alert notifications</a:t>
            </a:r>
            <a:endParaRPr lang="en-US" sz="1800" dirty="0"/>
          </a:p>
        </p:txBody>
      </p:sp>
      <p:sp>
        <p:nvSpPr>
          <p:cNvPr id="22" name="Text 15"/>
          <p:cNvSpPr txBox="1"/>
          <p:nvPr/>
        </p:nvSpPr>
        <p:spPr>
          <a:xfrm>
            <a:off x="1508760" y="5047488"/>
            <a:ext cx="4434840" cy="914400"/>
          </a:xfrm>
          <a:prstGeom prst="rect">
            <a:avLst/>
          </a:prstGeom>
          <a:noFill/>
          <a:ln/>
        </p:spPr>
        <p:txBody>
          <a:bodyPr wrap="square" lIns="0" tIns="0" rIns="0" bIns="0" rtlCol="0" anchor="t"/>
          <a:lstStyle/>
          <a:p>
            <a:pPr indent="0" marL="0">
              <a:buNone/>
            </a:pPr>
            <a:r>
              <a:rPr lang="en-US" sz="1400" dirty="0">
                <a:solidFill>
                  <a:schemeClr val="tx2"/>
                </a:solidFill>
              </a:rPr>
              <a:t>Telegram / e-mail messages when the warning level rises</a:t>
            </a:r>
            <a:endParaRPr lang="en-US" sz="1400" dirty="0"/>
          </a:p>
        </p:txBody>
      </p:sp>
      <p:sp>
        <p:nvSpPr>
          <p:cNvPr id="23" name="next 6 icon circle"/>
          <p:cNvSpPr/>
          <p:nvPr/>
        </p:nvSpPr>
        <p:spPr>
          <a:xfrm>
            <a:off x="6172200" y="4617720"/>
            <a:ext cx="731520" cy="731520"/>
          </a:xfrm>
          <a:prstGeom prst="ellipse">
            <a:avLst/>
          </a:prstGeom>
          <a:solidFill>
            <a:srgbClr val="D9412B"/>
          </a:solidFill>
          <a:ln w="12700">
            <a:solidFill>
              <a:srgbClr val="D9412B"/>
            </a:solidFill>
            <a:prstDash val="solid"/>
          </a:ln>
        </p:spPr>
      </p:sp>
      <p:pic>
        <p:nvPicPr>
          <p:cNvPr id="24" name="next 6 icon" descr="preencoded.png">    </p:cNvPr>
          <p:cNvPicPr>
            <a:picLocks noChangeAspect="1"/>
          </p:cNvPicPr>
          <p:nvPr/>
        </p:nvPicPr>
        <p:blipFill>
          <a:blip r:embed="rId6"/>
          <a:stretch>
            <a:fillRect/>
          </a:stretch>
        </p:blipFill>
        <p:spPr>
          <a:xfrm>
            <a:off x="6347765" y="4793285"/>
            <a:ext cx="380390" cy="380390"/>
          </a:xfrm>
          <a:prstGeom prst="rect">
            <a:avLst/>
          </a:prstGeom>
        </p:spPr>
      </p:pic>
      <p:sp>
        <p:nvSpPr>
          <p:cNvPr id="25" name="Text 17"/>
          <p:cNvSpPr txBox="1"/>
          <p:nvPr/>
        </p:nvSpPr>
        <p:spPr>
          <a:xfrm>
            <a:off x="7132320" y="4617720"/>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Model comparison</a:t>
            </a:r>
            <a:endParaRPr lang="en-US" sz="1800" dirty="0"/>
          </a:p>
        </p:txBody>
      </p:sp>
      <p:sp>
        <p:nvSpPr>
          <p:cNvPr id="26" name="Text 18"/>
          <p:cNvSpPr txBox="1"/>
          <p:nvPr/>
        </p:nvSpPr>
        <p:spPr>
          <a:xfrm>
            <a:off x="7132320" y="5047488"/>
            <a:ext cx="4434840" cy="914400"/>
          </a:xfrm>
          <a:prstGeom prst="rect">
            <a:avLst/>
          </a:prstGeom>
          <a:noFill/>
          <a:ln/>
        </p:spPr>
        <p:txBody>
          <a:bodyPr wrap="square" lIns="0" tIns="0" rIns="0" bIns="0" rtlCol="0" anchor="t"/>
          <a:lstStyle/>
          <a:p>
            <a:pPr indent="0" marL="0">
              <a:buNone/>
            </a:pPr>
            <a:r>
              <a:rPr lang="en-US" sz="1400" dirty="0">
                <a:solidFill>
                  <a:schemeClr val="tx2"/>
                </a:solidFill>
              </a:rPr>
              <a:t>LightGBM, random forest and LSTM on the same backtest; fire hotspots as an extra input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D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737360"/>
          </a:xfrm>
          <a:prstGeom prst="rect">
            <a:avLst/>
          </a:prstGeom>
          <a:noFill/>
          <a:ln/>
        </p:spPr>
        <p:txBody>
          <a:bodyPr wrap="square" lIns="0" tIns="0" rIns="0" bIns="0" rtlCol="0" anchor="t"/>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731520" y="3154680"/>
            <a:ext cx="10698480" cy="822960"/>
          </a:xfrm>
          <a:prstGeom prst="rect">
            <a:avLst/>
          </a:prstGeom>
          <a:noFill/>
          <a:ln/>
        </p:spPr>
        <p:txBody>
          <a:bodyPr wrap="square" lIns="0" tIns="0" rIns="0" bIns="0" rtlCol="0" anchor="t"/>
          <a:lstStyle/>
          <a:p>
            <a:pPr indent="0" marL="0">
              <a:buNone/>
            </a:pPr>
            <a:r>
              <a:rPr lang="en-US" sz="2000" dirty="0">
                <a:solidFill>
                  <a:srgbClr val="C9D4E3"/>
                </a:solidFill>
              </a:rPr>
              <a:t>Questions?</a:t>
            </a:r>
            <a:endParaRPr lang="en-US" sz="2000" dirty="0"/>
          </a:p>
        </p:txBody>
      </p:sp>
      <p:sp>
        <p:nvSpPr>
          <p:cNvPr id="4" name="Text 2"/>
          <p:cNvSpPr txBox="1"/>
          <p:nvPr/>
        </p:nvSpPr>
        <p:spPr>
          <a:xfrm>
            <a:off x="731520" y="5669280"/>
            <a:ext cx="10698480" cy="548640"/>
          </a:xfrm>
          <a:prstGeom prst="rect">
            <a:avLst/>
          </a:prstGeom>
          <a:noFill/>
          <a:ln/>
        </p:spPr>
        <p:txBody>
          <a:bodyPr wrap="square" lIns="0" tIns="0" rIns="0" bIns="0" rtlCol="0" anchor="ctr"/>
          <a:lstStyle/>
          <a:p>
            <a:pPr indent="0" marL="0">
              <a:buNone/>
            </a:pPr>
            <a:r>
              <a:rPr lang="en-US" sz="1300" dirty="0">
                <a:solidFill>
                  <a:srgbClr val="9FB0C6"/>
                </a:solidFill>
              </a:rPr>
              <a:t>Data: OpenAQ (WBPCB / CPCB monitors), Open-Meteo weather, Copernicus CAMS.</a:t>
            </a:r>
            <a:endParaRPr lang="en-US" sz="1300" dirty="0"/>
          </a:p>
        </p:txBody>
      </p:sp>
    </p:spTree>
  </p:cSld>
  <p:clrMapOvr>
    <a:masterClrMapping/>
  </p:clrMapOvr>
</p:sld>
</file>

<file path=ppt/theme/theme1.xml><?xml version="1.0" encoding="utf-8"?>
<a:theme xmlns:a="http://schemas.openxmlformats.org/drawingml/2006/main" name="Kolkata Air">
  <a:themeElements>
    <a:clrScheme name="Kolkata Air">
      <a:dk1>
        <a:srgbClr val="1B2A41"/>
      </a:dk1>
      <a:lt1>
        <a:srgbClr val="FFFFFF"/>
      </a:lt1>
      <a:dk2>
        <a:srgbClr val="3A4A63"/>
      </a:dk2>
      <a:lt2>
        <a:srgbClr val="EEF3F8"/>
      </a:lt2>
      <a:accent1>
        <a:srgbClr val="2F6FDE"/>
      </a:accent1>
      <a:accent2>
        <a:srgbClr val="F08A24"/>
      </a:accent2>
      <a:accent3>
        <a:srgbClr val="3FA34D"/>
      </a:accent3>
      <a:accent4>
        <a:srgbClr val="F2C230"/>
      </a:accent4>
      <a:accent5>
        <a:srgbClr val="D9412B"/>
      </a:accent5>
      <a:accent6>
        <a:srgbClr val="7C8DA3"/>
      </a:accent6>
      <a:hlink>
        <a:srgbClr val="2F6FDE"/>
      </a:hlink>
      <a:folHlink>
        <a:srgbClr val="7C8DA3"/>
      </a:folHlink>
    </a:clrScheme>
    <a:fontScheme name="Kolkata Ai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Kolkata PM2.5 Forecasting &amp; Early Warning System - Checkpoint 2</dc:title>
  <dc:subject>PptxGenJS Presentation</dc:subject>
  <dc:creator>Rupam Hari</dc:creator>
  <cp:lastModifiedBy>Rupam Hari</cp:lastModifiedBy>
  <cp:revision>1</cp:revision>
  <dcterms:created xsi:type="dcterms:W3CDTF">2026-10-10T21:30:13Z</dcterms:created>
  <dcterms:modified xsi:type="dcterms:W3CDTF">2026-10-10T21:30:13Z</dcterms:modified>
</cp:coreProperties>
</file>